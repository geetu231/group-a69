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Lst>
  <p:notesMasterIdLst>
    <p:notesMasterId r:id="rId9"/>
  </p:notesMasterIdLst>
  <p:handoutMasterIdLst>
    <p:handoutMasterId r:id="rId10"/>
  </p:handoutMasterIdLst>
  <p:sldIdLst>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3249">
          <p15:clr>
            <a:srgbClr val="A4A3A4"/>
          </p15:clr>
        </p15:guide>
        <p15:guide id="4" pos="7068">
          <p15:clr>
            <a:srgbClr val="A4A3A4"/>
          </p15:clr>
        </p15:guide>
        <p15:guide id="5" orient="horz" pos="13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74"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1048675"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t>22/11/2025</a:t>
            </a:fld>
            <a:endParaRPr lang="en-GB" dirty="0"/>
          </a:p>
        </p:txBody>
      </p:sp>
      <p:sp>
        <p:nvSpPr>
          <p:cNvPr id="1048676"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1048677"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t>‹#›</a:t>
            </a:fld>
            <a:endParaRPr lang="en-GB"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68"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1048669"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t>22/11/2025</a:t>
            </a:fld>
            <a:endParaRPr lang="en-GB" dirty="0"/>
          </a:p>
        </p:txBody>
      </p:sp>
      <p:sp>
        <p:nvSpPr>
          <p:cNvPr id="1048670"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1048671"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672"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1048673"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t>‹#›</a:t>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Slide Image Placeholder 1"/>
          <p:cNvSpPr>
            <a:spLocks noGrp="1" noRot="1" noChangeAspect="1"/>
          </p:cNvSpPr>
          <p:nvPr>
            <p:ph type="sldImg"/>
          </p:nvPr>
        </p:nvSpPr>
        <p:spPr/>
        <p:txBody>
          <a:bodyPr/>
          <a:lstStyle/>
          <a:p>
            <a:endParaRPr lang="en-IN" dirty="0"/>
          </a:p>
        </p:txBody>
      </p:sp>
      <p:sp>
        <p:nvSpPr>
          <p:cNvPr id="1048600" name="Notes Placeholder 2"/>
          <p:cNvSpPr>
            <a:spLocks noGrp="1"/>
          </p:cNvSpPr>
          <p:nvPr>
            <p:ph type="body" idx="1"/>
          </p:nvPr>
        </p:nvSpPr>
        <p:spPr/>
        <p:txBody>
          <a:bodyPr/>
          <a:lstStyle/>
          <a:p>
            <a:endParaRPr lang="en-GB" dirty="0"/>
          </a:p>
        </p:txBody>
      </p:sp>
      <p:sp>
        <p:nvSpPr>
          <p:cNvPr id="1048601" name="Slide Number Placeholder 3"/>
          <p:cNvSpPr>
            <a:spLocks noGrp="1"/>
          </p:cNvSpPr>
          <p:nvPr>
            <p:ph type="sldNum" sz="quarter" idx="5"/>
          </p:nvPr>
        </p:nvSpPr>
        <p:spPr/>
        <p:txBody>
          <a:bodyPr/>
          <a:lstStyle/>
          <a:p>
            <a:fld id="{30370952-48CC-46D7-9FCD-59FAD40CC025}" type="slidenum">
              <a:rPr lang="en-GB" smtClean="0"/>
              <a:t>3</a:t>
            </a:fld>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Slide Image Placeholder 1"/>
          <p:cNvSpPr>
            <a:spLocks noGrp="1" noRot="1" noChangeAspect="1"/>
          </p:cNvSpPr>
          <p:nvPr>
            <p:ph type="sldImg"/>
          </p:nvPr>
        </p:nvSpPr>
        <p:spPr/>
        <p:txBody>
          <a:bodyPr/>
          <a:lstStyle/>
          <a:p>
            <a:endParaRPr lang="en-IN" dirty="0"/>
          </a:p>
        </p:txBody>
      </p:sp>
      <p:sp>
        <p:nvSpPr>
          <p:cNvPr id="1048608" name="Notes Placeholder 2"/>
          <p:cNvSpPr>
            <a:spLocks noGrp="1"/>
          </p:cNvSpPr>
          <p:nvPr>
            <p:ph type="body" idx="1"/>
          </p:nvPr>
        </p:nvSpPr>
        <p:spPr/>
        <p:txBody>
          <a:bodyPr/>
          <a:lstStyle/>
          <a:p>
            <a:endParaRPr lang="en-GB" dirty="0"/>
          </a:p>
        </p:txBody>
      </p:sp>
      <p:sp>
        <p:nvSpPr>
          <p:cNvPr id="1048609" name="Slide Number Placeholder 3"/>
          <p:cNvSpPr>
            <a:spLocks noGrp="1"/>
          </p:cNvSpPr>
          <p:nvPr>
            <p:ph type="sldNum" sz="quarter" idx="5"/>
          </p:nvPr>
        </p:nvSpPr>
        <p:spPr/>
        <p:txBody>
          <a:bodyPr/>
          <a:lstStyle/>
          <a:p>
            <a:fld id="{30370952-48CC-46D7-9FCD-59FAD40CC025}" type="slidenum">
              <a:rPr lang="en-GB" smtClean="0"/>
              <a:t>4</a:t>
            </a:fld>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Slide Image Placeholder 1"/>
          <p:cNvSpPr>
            <a:spLocks noGrp="1" noRot="1" noChangeAspect="1"/>
          </p:cNvSpPr>
          <p:nvPr>
            <p:ph type="sldImg"/>
          </p:nvPr>
        </p:nvSpPr>
        <p:spPr/>
        <p:txBody>
          <a:bodyPr/>
          <a:lstStyle/>
          <a:p>
            <a:endParaRPr lang="en-IN" dirty="0"/>
          </a:p>
        </p:txBody>
      </p:sp>
      <p:sp>
        <p:nvSpPr>
          <p:cNvPr id="1048615" name="Notes Placeholder 2"/>
          <p:cNvSpPr>
            <a:spLocks noGrp="1"/>
          </p:cNvSpPr>
          <p:nvPr>
            <p:ph type="body" idx="1"/>
          </p:nvPr>
        </p:nvSpPr>
        <p:spPr/>
        <p:txBody>
          <a:bodyPr/>
          <a:lstStyle/>
          <a:p>
            <a:endParaRPr lang="en-GB" dirty="0"/>
          </a:p>
        </p:txBody>
      </p:sp>
      <p:sp>
        <p:nvSpPr>
          <p:cNvPr id="1048616" name="Slide Number Placeholder 3"/>
          <p:cNvSpPr>
            <a:spLocks noGrp="1"/>
          </p:cNvSpPr>
          <p:nvPr>
            <p:ph type="sldNum" sz="quarter" idx="5"/>
          </p:nvPr>
        </p:nvSpPr>
        <p:spPr/>
        <p:txBody>
          <a:bodyPr/>
          <a:lstStyle/>
          <a:p>
            <a:fld id="{30370952-48CC-46D7-9FCD-59FAD40CC025}" type="slidenum">
              <a:rPr lang="en-GB" smtClean="0"/>
              <a:t>5</a:t>
            </a:fld>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0" name="Slide Image Placeholder 1"/>
          <p:cNvSpPr>
            <a:spLocks noGrp="1" noRot="1" noChangeAspect="1"/>
          </p:cNvSpPr>
          <p:nvPr>
            <p:ph type="sldImg"/>
          </p:nvPr>
        </p:nvSpPr>
        <p:spPr/>
        <p:txBody>
          <a:bodyPr/>
          <a:lstStyle/>
          <a:p>
            <a:endParaRPr lang="en-IN" dirty="0"/>
          </a:p>
        </p:txBody>
      </p:sp>
      <p:sp>
        <p:nvSpPr>
          <p:cNvPr id="1048621" name="Notes Placeholder 2"/>
          <p:cNvSpPr>
            <a:spLocks noGrp="1"/>
          </p:cNvSpPr>
          <p:nvPr>
            <p:ph type="body" idx="1"/>
          </p:nvPr>
        </p:nvSpPr>
        <p:spPr/>
        <p:txBody>
          <a:bodyPr/>
          <a:lstStyle/>
          <a:p>
            <a:endParaRPr lang="en-GB" dirty="0"/>
          </a:p>
        </p:txBody>
      </p:sp>
      <p:sp>
        <p:nvSpPr>
          <p:cNvPr id="1048622" name="Slide Number Placeholder 3"/>
          <p:cNvSpPr>
            <a:spLocks noGrp="1"/>
          </p:cNvSpPr>
          <p:nvPr>
            <p:ph type="sldNum" sz="quarter" idx="5"/>
          </p:nvPr>
        </p:nvSpPr>
        <p:spPr/>
        <p:txBody>
          <a:bodyPr/>
          <a:lstStyle/>
          <a:p>
            <a:fld id="{30370952-48CC-46D7-9FCD-59FAD40CC025}" type="slidenum">
              <a:rPr lang="en-GB" smtClean="0"/>
              <a:t>6</a:t>
            </a:fld>
            <a:endParaRPr lang="en-GB"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097154" name="Picture 3" descr="University of Hertfordshire logo"/>
          <p:cNvPicPr>
            <a:picLocks noChangeAspect="1"/>
          </p:cNvPicPr>
          <p:nvPr userDrawn="1"/>
        </p:nvPicPr>
        <p:blipFill>
          <a:blip r:embed="rId3"/>
          <a:stretch>
            <a:fillRect/>
          </a:stretch>
        </p:blipFill>
        <p:spPr>
          <a:xfrm>
            <a:off x="2844000" y="2854800"/>
            <a:ext cx="6501600" cy="115363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1048588" name="Title 1"/>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1048589" name="Subtitle 2"/>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1048590" name="Footer Placeholder 4"/>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dirty="0"/>
              <a:t>PRESENTATION TITLE (ADD VIA INSERT, HEADER &amp; FOOTER)</a:t>
            </a:r>
            <a:endParaRPr lang="en-GB" dirty="0">
              <a:solidFill>
                <a:schemeClr val="bg1"/>
              </a:solidFill>
            </a:endParaRPr>
          </a:p>
        </p:txBody>
      </p:sp>
      <p:sp>
        <p:nvSpPr>
          <p:cNvPr id="1048591" name="Slide Number Placeholder 5"/>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t>‹#›</a:t>
            </a:fld>
            <a:endParaRPr lang="en-GB" dirty="0"/>
          </a:p>
        </p:txBody>
      </p:sp>
      <p:pic>
        <p:nvPicPr>
          <p:cNvPr id="2097153" name="Picture 7" descr="A picture containing drawing  Description automatically generated"/>
          <p:cNvPicPr>
            <a:picLocks noChangeAspect="1"/>
          </p:cNvPicPr>
          <p:nvPr userDrawn="1"/>
        </p:nvPicPr>
        <p:blipFill>
          <a:blip r:embed="rId2" cstate="print"/>
          <a:stretch>
            <a:fillRect/>
          </a:stretch>
        </p:blipFill>
        <p:spPr>
          <a:xfrm>
            <a:off x="954000" y="5511600"/>
            <a:ext cx="2242800" cy="39795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1048580" name="Subtitle 2"/>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048581" name="Footer Placeholder 4"/>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dirty="0"/>
              <a:t>PRESENTATION TITLE (ADD VIA INSERT, HEADER &amp; FOOTER)</a:t>
            </a:r>
          </a:p>
        </p:txBody>
      </p:sp>
      <p:sp>
        <p:nvSpPr>
          <p:cNvPr id="1048582" name="Slide Number Placeholder 5"/>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t>‹#›</a:t>
            </a:fld>
            <a:endParaRPr lang="en-GB" dirty="0"/>
          </a:p>
        </p:txBody>
      </p:sp>
      <p:sp>
        <p:nvSpPr>
          <p:cNvPr id="1048583" name="Title 1"/>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48584" name="Rectangle 9"/>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1"/>
              </a:solidFill>
            </a:endParaRPr>
          </a:p>
        </p:txBody>
      </p:sp>
      <p:pic>
        <p:nvPicPr>
          <p:cNvPr id="2097152" name="Picture 10"/>
          <p:cNvPicPr>
            <a:picLocks noChangeAspect="1"/>
          </p:cNvPicPr>
          <p:nvPr userDrawn="1"/>
        </p:nvPicPr>
        <p:blipFill>
          <a:blip r:embed="rId2"/>
          <a:stretch>
            <a:fillRect/>
          </a:stretch>
        </p:blipFill>
        <p:spPr>
          <a:xfrm>
            <a:off x="953998" y="5517266"/>
            <a:ext cx="2244881" cy="39690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1048656" name="Title 1"/>
          <p:cNvSpPr>
            <a:spLocks noGrp="1"/>
          </p:cNvSpPr>
          <p:nvPr>
            <p:ph type="title"/>
          </p:nvPr>
        </p:nvSpPr>
        <p:spPr/>
        <p:txBody>
          <a:bodyPr/>
          <a:lstStyle/>
          <a:p>
            <a:r>
              <a:rPr lang="en-US"/>
              <a:t>Click to edit Master title style</a:t>
            </a:r>
            <a:endParaRPr lang="en-GB"/>
          </a:p>
        </p:txBody>
      </p:sp>
      <p:sp>
        <p:nvSpPr>
          <p:cNvPr id="1048657" name="Content Placeholder 2"/>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048658" name="Content Placeholder 3"/>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pPr>
            <a:r>
              <a:rPr lang="en-GB" b="0"/>
              <a:t>Add Text</a:t>
            </a:r>
            <a:endParaRPr lang="en-GB"/>
          </a:p>
        </p:txBody>
      </p:sp>
      <p:sp>
        <p:nvSpPr>
          <p:cNvPr id="1048659" name="Footer Placeholder 5"/>
          <p:cNvSpPr>
            <a:spLocks noGrp="1"/>
          </p:cNvSpPr>
          <p:nvPr>
            <p:ph type="ftr" sz="quarter" idx="11"/>
          </p:nvPr>
        </p:nvSpPr>
        <p:spPr/>
        <p:txBody>
          <a:bodyPr/>
          <a:lstStyle/>
          <a:p>
            <a:r>
              <a:rPr lang="en-GB" dirty="0"/>
              <a:t>PRESENTATION TITLE (ADD VIA INSERT, HEADER &amp; FOOTER)</a:t>
            </a:r>
          </a:p>
        </p:txBody>
      </p:sp>
      <p:sp>
        <p:nvSpPr>
          <p:cNvPr id="1048660" name="Slide Number Placeholder 6"/>
          <p:cNvSpPr>
            <a:spLocks noGrp="1"/>
          </p:cNvSpPr>
          <p:nvPr>
            <p:ph type="sldNum" sz="quarter" idx="12"/>
          </p:nvPr>
        </p:nvSpPr>
        <p:spPr/>
        <p:txBody>
          <a:bodyPr/>
          <a:lstStyle/>
          <a:p>
            <a:fld id="{E4D355CA-84B7-41B1-B164-8BB439CC7C6B}" type="slidenum">
              <a:rPr lang="en-GB" smtClean="0"/>
              <a:t>‹#›</a:t>
            </a:fld>
            <a:endParaRPr lang="en-GB" dirty="0"/>
          </a:p>
        </p:txBody>
      </p:sp>
      <p:sp>
        <p:nvSpPr>
          <p:cNvPr id="1048661" name="Rectangle 7"/>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048638" name="Title 1"/>
          <p:cNvSpPr>
            <a:spLocks noGrp="1"/>
          </p:cNvSpPr>
          <p:nvPr>
            <p:ph type="title"/>
          </p:nvPr>
        </p:nvSpPr>
        <p:spPr/>
        <p:txBody>
          <a:bodyPr/>
          <a:lstStyle/>
          <a:p>
            <a:r>
              <a:rPr lang="en-US"/>
              <a:t>Click to edit Master title style</a:t>
            </a:r>
            <a:endParaRPr lang="en-GB"/>
          </a:p>
        </p:txBody>
      </p:sp>
      <p:sp>
        <p:nvSpPr>
          <p:cNvPr id="1048639" name="Content Placeholder 2"/>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048640" name="Footer Placeholder 4"/>
          <p:cNvSpPr>
            <a:spLocks noGrp="1"/>
          </p:cNvSpPr>
          <p:nvPr>
            <p:ph type="ftr" sz="quarter" idx="11"/>
          </p:nvPr>
        </p:nvSpPr>
        <p:spPr/>
        <p:txBody>
          <a:bodyPr/>
          <a:lstStyle/>
          <a:p>
            <a:r>
              <a:rPr lang="en-GB" dirty="0"/>
              <a:t>PRESENTATION TITLE (ADD VIA INSERT, HEADER &amp; FOOTER)</a:t>
            </a:r>
          </a:p>
        </p:txBody>
      </p:sp>
      <p:sp>
        <p:nvSpPr>
          <p:cNvPr id="1048641" name="Slide Number Placeholder 5"/>
          <p:cNvSpPr>
            <a:spLocks noGrp="1"/>
          </p:cNvSpPr>
          <p:nvPr>
            <p:ph type="sldNum" sz="quarter" idx="12"/>
          </p:nvPr>
        </p:nvSpPr>
        <p:spPr/>
        <p:txBody>
          <a:bodyPr/>
          <a:lstStyle/>
          <a:p>
            <a:fld id="{E4D355CA-84B7-41B1-B164-8BB439CC7C6B}" type="slidenum">
              <a:rPr lang="en-GB" smtClean="0"/>
              <a:t>‹#›</a:t>
            </a:fld>
            <a:endParaRPr lang="en-GB" dirty="0"/>
          </a:p>
        </p:txBody>
      </p:sp>
      <p:sp>
        <p:nvSpPr>
          <p:cNvPr id="1048642" name="Rectangle 6"/>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1048623" name="Title 1"/>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1048624" name="Content Placeholder 2"/>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048625" name="Slide Number Placeholder 5"/>
          <p:cNvSpPr>
            <a:spLocks noGrp="1"/>
          </p:cNvSpPr>
          <p:nvPr>
            <p:ph type="sldNum" sz="quarter" idx="12"/>
          </p:nvPr>
        </p:nvSpPr>
        <p:spPr/>
        <p:txBody>
          <a:bodyPr/>
          <a:lstStyle/>
          <a:p>
            <a:fld id="{E4D355CA-84B7-41B1-B164-8BB439CC7C6B}" type="slidenum">
              <a:rPr lang="en-GB" smtClean="0"/>
              <a:t>‹#›</a:t>
            </a:fld>
            <a:endParaRPr lang="en-GB" dirty="0"/>
          </a:p>
        </p:txBody>
      </p:sp>
      <p:sp>
        <p:nvSpPr>
          <p:cNvPr id="1048626" name="Rectangle 6"/>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1048643" name="Slide Number Placeholder 5"/>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t>‹#›</a:t>
            </a:fld>
            <a:endParaRPr lang="en-GB" dirty="0"/>
          </a:p>
        </p:txBody>
      </p:sp>
      <p:sp>
        <p:nvSpPr>
          <p:cNvPr id="1048644" name="Content Placeholder 2"/>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1048645" name="Title 1"/>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1048662" name="Title 1"/>
          <p:cNvSpPr>
            <a:spLocks noGrp="1"/>
          </p:cNvSpPr>
          <p:nvPr>
            <p:ph type="title"/>
          </p:nvPr>
        </p:nvSpPr>
        <p:spPr/>
        <p:txBody>
          <a:bodyPr/>
          <a:lstStyle/>
          <a:p>
            <a:r>
              <a:rPr lang="en-US"/>
              <a:t>Click to edit Master title style</a:t>
            </a:r>
            <a:endParaRPr lang="en-GB"/>
          </a:p>
        </p:txBody>
      </p:sp>
      <p:sp>
        <p:nvSpPr>
          <p:cNvPr id="1048663" name="Content Placeholder 3"/>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1048664" name="Footer Placeholder 5"/>
          <p:cNvSpPr>
            <a:spLocks noGrp="1"/>
          </p:cNvSpPr>
          <p:nvPr>
            <p:ph type="ftr" sz="quarter" idx="11"/>
          </p:nvPr>
        </p:nvSpPr>
        <p:spPr/>
        <p:txBody>
          <a:bodyPr/>
          <a:lstStyle/>
          <a:p>
            <a:r>
              <a:rPr lang="en-GB" dirty="0"/>
              <a:t>PRESENTATION TITLE (ADD VIA INSERT, HEADER &amp; FOOTER)</a:t>
            </a:r>
          </a:p>
        </p:txBody>
      </p:sp>
      <p:sp>
        <p:nvSpPr>
          <p:cNvPr id="1048665" name="Slide Number Placeholder 6"/>
          <p:cNvSpPr>
            <a:spLocks noGrp="1"/>
          </p:cNvSpPr>
          <p:nvPr>
            <p:ph type="sldNum" sz="quarter" idx="12"/>
          </p:nvPr>
        </p:nvSpPr>
        <p:spPr/>
        <p:txBody>
          <a:bodyPr/>
          <a:lstStyle/>
          <a:p>
            <a:fld id="{E4D355CA-84B7-41B1-B164-8BB439CC7C6B}" type="slidenum">
              <a:rPr lang="en-GB" smtClean="0"/>
              <a:t>‹#›</a:t>
            </a:fld>
            <a:endParaRPr lang="en-GB" dirty="0"/>
          </a:p>
        </p:txBody>
      </p:sp>
      <p:sp>
        <p:nvSpPr>
          <p:cNvPr id="1048666" name="Picture Placeholder 9"/>
          <p:cNvSpPr>
            <a:spLocks noGrp="1"/>
          </p:cNvSpPr>
          <p:nvPr>
            <p:ph type="pic" sz="quarter" idx="13"/>
          </p:nvPr>
        </p:nvSpPr>
        <p:spPr>
          <a:xfrm>
            <a:off x="954088" y="2728913"/>
            <a:ext cx="6400800" cy="4129087"/>
          </a:xfrm>
        </p:spPr>
        <p:txBody>
          <a:bodyPr/>
          <a:lstStyle/>
          <a:p>
            <a:endParaRPr lang="en-GB" dirty="0"/>
          </a:p>
        </p:txBody>
      </p:sp>
      <p:sp>
        <p:nvSpPr>
          <p:cNvPr id="1048667" name="Rectangle 10"/>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1048631" name="Title 1"/>
          <p:cNvSpPr>
            <a:spLocks noGrp="1"/>
          </p:cNvSpPr>
          <p:nvPr>
            <p:ph type="title"/>
          </p:nvPr>
        </p:nvSpPr>
        <p:spPr/>
        <p:txBody>
          <a:bodyPr/>
          <a:lstStyle/>
          <a:p>
            <a:r>
              <a:rPr lang="en-US"/>
              <a:t>Click to edit Master title style</a:t>
            </a:r>
            <a:endParaRPr lang="en-GB"/>
          </a:p>
        </p:txBody>
      </p:sp>
      <p:sp>
        <p:nvSpPr>
          <p:cNvPr id="1048632" name="Footer Placeholder 5"/>
          <p:cNvSpPr>
            <a:spLocks noGrp="1"/>
          </p:cNvSpPr>
          <p:nvPr>
            <p:ph type="ftr" sz="quarter" idx="11"/>
          </p:nvPr>
        </p:nvSpPr>
        <p:spPr/>
        <p:txBody>
          <a:bodyPr/>
          <a:lstStyle/>
          <a:p>
            <a:r>
              <a:rPr lang="en-GB" dirty="0"/>
              <a:t>PRESENTATION TITLE (ADD VIA INSERT, HEADER &amp; FOOTER)</a:t>
            </a:r>
          </a:p>
        </p:txBody>
      </p:sp>
      <p:sp>
        <p:nvSpPr>
          <p:cNvPr id="1048633" name="Slide Number Placeholder 6"/>
          <p:cNvSpPr>
            <a:spLocks noGrp="1"/>
          </p:cNvSpPr>
          <p:nvPr>
            <p:ph type="sldNum" sz="quarter" idx="12"/>
          </p:nvPr>
        </p:nvSpPr>
        <p:spPr/>
        <p:txBody>
          <a:bodyPr/>
          <a:lstStyle/>
          <a:p>
            <a:fld id="{E4D355CA-84B7-41B1-B164-8BB439CC7C6B}" type="slidenum">
              <a:rPr lang="en-GB" smtClean="0"/>
              <a:t>‹#›</a:t>
            </a:fld>
            <a:endParaRPr lang="en-GB" dirty="0"/>
          </a:p>
        </p:txBody>
      </p:sp>
      <p:sp>
        <p:nvSpPr>
          <p:cNvPr id="1048634" name="Rectangle 7"/>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48635" name="Content Placeholder 9"/>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048636" name="Content Placeholder 9"/>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048637" name="Content Placeholder 9"/>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1048655" name="Picture Placeholder 2"/>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dirty="0"/>
              <a:t>Picture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1048630" name="Media Placeholder 8"/>
          <p:cNvSpPr>
            <a:spLocks noGrp="1"/>
          </p:cNvSpPr>
          <p:nvPr>
            <p:ph type="media" sz="quarter" idx="10"/>
          </p:nvPr>
        </p:nvSpPr>
        <p:spPr>
          <a:xfrm>
            <a:off x="140400" y="140400"/>
            <a:ext cx="11916000" cy="6580800"/>
          </a:xfrm>
          <a:solidFill>
            <a:schemeClr val="bg1"/>
          </a:solidFill>
        </p:spPr>
        <p:txBody>
          <a:bodyPr/>
          <a:lstStyle/>
          <a:p>
            <a:endParaRPr lang="en-GB"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1048646" name="Footer Placeholder 4"/>
          <p:cNvSpPr>
            <a:spLocks noGrp="1"/>
          </p:cNvSpPr>
          <p:nvPr>
            <p:ph type="ftr" sz="quarter" idx="11"/>
          </p:nvPr>
        </p:nvSpPr>
        <p:spPr/>
        <p:txBody>
          <a:bodyPr/>
          <a:lstStyle/>
          <a:p>
            <a:r>
              <a:rPr lang="en-GB" dirty="0"/>
              <a:t>PRESENTATION TITLE (ADD VIA INSERT, HEADER &amp; FOOTER)</a:t>
            </a:r>
          </a:p>
        </p:txBody>
      </p:sp>
      <p:sp>
        <p:nvSpPr>
          <p:cNvPr id="1048647" name="Slide Number Placeholder 5"/>
          <p:cNvSpPr>
            <a:spLocks noGrp="1"/>
          </p:cNvSpPr>
          <p:nvPr>
            <p:ph type="sldNum" sz="quarter" idx="12"/>
          </p:nvPr>
        </p:nvSpPr>
        <p:spPr/>
        <p:txBody>
          <a:bodyPr/>
          <a:lstStyle/>
          <a:p>
            <a:fld id="{E4D355CA-84B7-41B1-B164-8BB439CC7C6B}" type="slidenum">
              <a:rPr lang="en-GB" smtClean="0"/>
              <a:t>‹#›</a:t>
            </a:fld>
            <a:endParaRPr lang="en-GB" dirty="0"/>
          </a:p>
        </p:txBody>
      </p:sp>
      <p:sp>
        <p:nvSpPr>
          <p:cNvPr id="1048648" name="Rectangle 6"/>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48649" name="Content Placeholder 2"/>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048650" name="Content Placeholder 2"/>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pPr>
            <a:r>
              <a:rPr lang="en-GB"/>
              <a:t>Add </a:t>
            </a:r>
            <a:r>
              <a:rPr lang="en-US"/>
              <a:t>Text</a:t>
            </a:r>
            <a:endParaRPr lang="en-GB"/>
          </a:p>
        </p:txBody>
      </p:sp>
      <p:sp>
        <p:nvSpPr>
          <p:cNvPr id="1048651" name="Content Placeholder 2"/>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pPr>
            <a:r>
              <a:rPr lang="en-GB"/>
              <a:t>Add </a:t>
            </a:r>
            <a:r>
              <a:rPr lang="en-US"/>
              <a:t>Text</a:t>
            </a:r>
          </a:p>
        </p:txBody>
      </p:sp>
      <p:sp>
        <p:nvSpPr>
          <p:cNvPr id="1048652" name="Picture Placeholder 7"/>
          <p:cNvSpPr>
            <a:spLocks noGrp="1"/>
          </p:cNvSpPr>
          <p:nvPr>
            <p:ph type="pic" sz="quarter" idx="23"/>
          </p:nvPr>
        </p:nvSpPr>
        <p:spPr>
          <a:xfrm>
            <a:off x="1462175" y="1640942"/>
            <a:ext cx="2160587" cy="2160588"/>
          </a:xfrm>
        </p:spPr>
        <p:txBody>
          <a:bodyPr/>
          <a:lstStyle/>
          <a:p>
            <a:endParaRPr lang="en-US" dirty="0"/>
          </a:p>
        </p:txBody>
      </p:sp>
      <p:sp>
        <p:nvSpPr>
          <p:cNvPr id="1048653" name="Picture Placeholder 7"/>
          <p:cNvSpPr>
            <a:spLocks noGrp="1"/>
          </p:cNvSpPr>
          <p:nvPr>
            <p:ph type="pic" sz="quarter" idx="24"/>
          </p:nvPr>
        </p:nvSpPr>
        <p:spPr>
          <a:xfrm>
            <a:off x="5015705" y="1640942"/>
            <a:ext cx="2160587" cy="2160588"/>
          </a:xfrm>
        </p:spPr>
        <p:txBody>
          <a:bodyPr/>
          <a:lstStyle/>
          <a:p>
            <a:endParaRPr lang="en-US" dirty="0"/>
          </a:p>
        </p:txBody>
      </p:sp>
      <p:sp>
        <p:nvSpPr>
          <p:cNvPr id="1048654" name="Picture Placeholder 7"/>
          <p:cNvSpPr>
            <a:spLocks noGrp="1"/>
          </p:cNvSpPr>
          <p:nvPr>
            <p:ph type="pic" sz="quarter" idx="25"/>
          </p:nvPr>
        </p:nvSpPr>
        <p:spPr>
          <a:xfrm>
            <a:off x="8569236" y="1640942"/>
            <a:ext cx="2160587" cy="2160588"/>
          </a:xfrm>
        </p:spPr>
        <p:txBody>
          <a:bodyPr/>
          <a:lstStyle/>
          <a:p>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2097155" name="Picture 6"/>
          <p:cNvPicPr>
            <a:picLocks noChangeAspect="1"/>
          </p:cNvPicPr>
          <p:nvPr userDrawn="1"/>
        </p:nvPicPr>
        <p:blipFill>
          <a:blip r:embed="rId2" cstate="print"/>
          <a:srcRect/>
          <a:stretch>
            <a:fillRect/>
          </a:stretch>
        </p:blipFill>
        <p:spPr>
          <a:xfrm>
            <a:off x="954002" y="5511600"/>
            <a:ext cx="2242795" cy="397958"/>
          </a:xfrm>
          <a:prstGeom prst="rect">
            <a:avLst/>
          </a:prstGeom>
        </p:spPr>
      </p:pic>
      <p:sp>
        <p:nvSpPr>
          <p:cNvPr id="1048627" name="Title 1"/>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1048628" name="Footer Placeholder 4"/>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dirty="0"/>
              <a:t>PRESENTATION TITLE (ADD VIA INSERT, HEADER &amp; FOOTER)</a:t>
            </a:r>
            <a:endParaRPr lang="en-GB" dirty="0">
              <a:solidFill>
                <a:schemeClr val="bg1"/>
              </a:solidFill>
            </a:endParaRPr>
          </a:p>
        </p:txBody>
      </p:sp>
      <p:sp>
        <p:nvSpPr>
          <p:cNvPr id="1048629" name="Slide Number Placeholder 5"/>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1048577" name="Text Placeholder 2"/>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1048578" name="Footer Placeholder 4"/>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dirty="0"/>
              <a:t>PRESENTATION TITLE (ADD VIA INSERT, HEADER &amp; FOOTER)</a:t>
            </a:r>
          </a:p>
        </p:txBody>
      </p:sp>
      <p:sp>
        <p:nvSpPr>
          <p:cNvPr id="1048579" name="Slide Number Placeholder 5"/>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t>‹#›</a:t>
            </a:fld>
            <a:endParaRPr lang="en-GB"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5" name="Subtitle 1"/>
          <p:cNvSpPr>
            <a:spLocks noGrp="1"/>
          </p:cNvSpPr>
          <p:nvPr>
            <p:ph type="subTitle" idx="1"/>
          </p:nvPr>
        </p:nvSpPr>
        <p:spPr>
          <a:xfrm>
            <a:off x="952800" y="699736"/>
            <a:ext cx="10273911" cy="533111"/>
          </a:xfrm>
        </p:spPr>
        <p:txBody>
          <a:bodyPr/>
          <a:lstStyle/>
          <a:p>
            <a:r>
              <a:rPr lang="en-GB" dirty="0"/>
              <a:t>Instructions for the Research Question Demos</a:t>
            </a:r>
          </a:p>
        </p:txBody>
      </p:sp>
      <p:sp>
        <p:nvSpPr>
          <p:cNvPr id="1048586" name="Slide Number Placeholder 3"/>
          <p:cNvSpPr>
            <a:spLocks noGrp="1"/>
          </p:cNvSpPr>
          <p:nvPr>
            <p:ph type="sldNum" sz="quarter" idx="12"/>
          </p:nvPr>
        </p:nvSpPr>
        <p:spPr/>
        <p:txBody>
          <a:bodyPr/>
          <a:lstStyle/>
          <a:p>
            <a:fld id="{E4D355CA-84B7-41B1-B164-8BB439CC7C6B}" type="slidenum">
              <a:rPr lang="en-GB" smtClean="0"/>
              <a:t>1</a:t>
            </a:fld>
            <a:endParaRPr lang="en-GB" dirty="0"/>
          </a:p>
        </p:txBody>
      </p:sp>
      <p:sp>
        <p:nvSpPr>
          <p:cNvPr id="1048587" name="TextBox 5"/>
          <p:cNvSpPr txBox="1"/>
          <p:nvPr/>
        </p:nvSpPr>
        <p:spPr>
          <a:xfrm>
            <a:off x="388578" y="1310979"/>
            <a:ext cx="11486747" cy="5158741"/>
          </a:xfrm>
          <a:prstGeom prst="rect">
            <a:avLst/>
          </a:prstGeom>
          <a:solidFill>
            <a:schemeClr val="bg1"/>
          </a:solidFill>
        </p:spPr>
        <p:txBody>
          <a:bodyPr wrap="square" lIns="91440" tIns="45720" rIns="91440" bIns="45720" rtlCol="0" anchor="t">
            <a:spAutoFit/>
          </a:bodyPr>
          <a:lstStyle/>
          <a:p>
            <a:r>
              <a:rPr lang="en-GB" dirty="0"/>
              <a:t>You have 5 minutes to present – be ready to share your screen, present slides in "full screen / presentation mode". Practice first. We can only offer you one opportunity to present your Research Question, so please make the most of this opportunity to help you pass coursework 2. </a:t>
            </a:r>
          </a:p>
          <a:p>
            <a:endParaRPr lang="en-GB" dirty="0"/>
          </a:p>
          <a:p>
            <a:r>
              <a:rPr lang="en-GB" dirty="0">
                <a:solidFill>
                  <a:srgbClr val="FF0000"/>
                </a:solidFill>
              </a:rPr>
              <a:t>Research Questions are dependent on the variables and datatypes you have in your assigned dataset. Before you define your Research Question, your dataset ds088 must match your assigned Dataset, I.e., did you receive confirmation email about your allocation? Your group number must be assigned to the dataset you are referencing here.</a:t>
            </a:r>
            <a:endParaRPr lang="en-GB" dirty="0">
              <a:solidFill>
                <a:srgbClr val="FF0000"/>
              </a:solidFill>
              <a:cs typeface="Arial"/>
            </a:endParaRPr>
          </a:p>
          <a:p>
            <a:endParaRPr lang="en-GB" dirty="0">
              <a:solidFill>
                <a:srgbClr val="203232"/>
              </a:solidFill>
              <a:cs typeface="Arial" panose="020B0604020202020204"/>
            </a:endParaRPr>
          </a:p>
          <a:p>
            <a:r>
              <a:rPr lang="en-GB" dirty="0"/>
              <a:t>The next slides give you three alternatives for defining your research question and hypotheses. Select only </a:t>
            </a:r>
            <a:r>
              <a:rPr lang="en-GB" b="1" dirty="0"/>
              <a:t>one type </a:t>
            </a:r>
            <a:r>
              <a:rPr lang="en-GB" dirty="0"/>
              <a:t>of research question. </a:t>
            </a:r>
          </a:p>
          <a:p>
            <a:r>
              <a:rPr lang="en-GB" dirty="0"/>
              <a:t>Before presenting DELETE all text that is either an instruction or an optionyou do not use (including this slide).   You can then enlarge your selection. Instructions for group sign up of presentation slots will be announced on Canvas and Slack. DO NOT SIGN UP unless you can attend. Ideally, all group members should attend; select one person to present, while others take notes. All group be ready to answer questions.  Any group not presenting will miss the opportunity to check a critical part of coursework 2.   Practice presenting on Teams first.</a:t>
            </a:r>
            <a:endParaRPr lang="en-GB" dirty="0">
              <a:cs typeface="Arial"/>
            </a:endParaRPr>
          </a:p>
          <a:p>
            <a:r>
              <a:rPr lang="en-GB" b="1" i="1" dirty="0"/>
              <a:t>We look forward to giving you feedback.  You will not be graded on this presentation but if you do not attend and you booked a space you are preventing someone else presenting and are going against our module values</a:t>
            </a:r>
            <a:r>
              <a:rPr lang="en-GB" dirty="0"/>
              <a:t>.  This will be reflected in your peer evaluation.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48592" name="Title 1"/>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 19/11/2025</a:t>
            </a:r>
            <a:br>
              <a:rPr lang="en-US" sz="8000" dirty="0"/>
            </a:br>
            <a:endParaRPr lang="en-US" dirty="0"/>
          </a:p>
        </p:txBody>
      </p:sp>
      <p:sp>
        <p:nvSpPr>
          <p:cNvPr id="1048593" name="Subtitle 2"/>
          <p:cNvSpPr>
            <a:spLocks noGrp="1"/>
          </p:cNvSpPr>
          <p:nvPr>
            <p:ph type="subTitle" idx="1"/>
          </p:nvPr>
        </p:nvSpPr>
        <p:spPr/>
        <p:txBody>
          <a:bodyPr/>
          <a:lstStyle/>
          <a:p>
            <a:r>
              <a:rPr lang="en-US" sz="2000" dirty="0"/>
              <a:t>Group Name:     A69                                                       Name of Student Presenting: Geetha Aaluri</a:t>
            </a:r>
          </a:p>
        </p:txBody>
      </p:sp>
      <p:sp>
        <p:nvSpPr>
          <p:cNvPr id="1048594" name="Footer Placeholder 3"/>
          <p:cNvSpPr>
            <a:spLocks noGrp="1"/>
          </p:cNvSpPr>
          <p:nvPr>
            <p:ph type="ftr" sz="quarter" idx="11"/>
          </p:nvPr>
        </p:nvSpPr>
        <p:spPr>
          <a:xfrm>
            <a:off x="965289" y="274320"/>
            <a:ext cx="10455567" cy="736245"/>
          </a:xfrm>
        </p:spPr>
        <p:txBody>
          <a:bodyPr/>
          <a:lstStyle/>
          <a:p>
            <a:r>
              <a:rPr lang="en-GB" dirty="0"/>
              <a:t>7COM1079-2025  Student Group No:   A69                 Names of Student Attendees  (all group should attend to get feedback):  Geetha Aaluri , </a:t>
            </a:r>
          </a:p>
          <a:p>
            <a:r>
              <a:rPr lang="en-GB" dirty="0"/>
              <a:t>Jaswanth Bandari , </a:t>
            </a:r>
          </a:p>
          <a:p>
            <a:r>
              <a:rPr lang="en-GB" dirty="0"/>
              <a:t>Manoj Kaku ,</a:t>
            </a:r>
          </a:p>
          <a:p>
            <a:r>
              <a:rPr lang="en-GB" dirty="0"/>
              <a:t> Srikanth Kolli ,</a:t>
            </a:r>
          </a:p>
          <a:p>
            <a:r>
              <a:rPr lang="en-GB" dirty="0"/>
              <a:t> Prathyusha Yinnamuri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Footer Placeholder 2"/>
          <p:cNvSpPr>
            <a:spLocks noGrp="1"/>
          </p:cNvSpPr>
          <p:nvPr>
            <p:ph type="ftr" sz="quarter" idx="11"/>
          </p:nvPr>
        </p:nvSpPr>
        <p:spPr/>
        <p:txBody>
          <a:bodyPr/>
          <a:lstStyle/>
          <a:p>
            <a:r>
              <a:rPr lang="en-GB" dirty="0"/>
              <a:t>PRE 7COM1079-2025  Student Group No: A69</a:t>
            </a:r>
          </a:p>
        </p:txBody>
      </p:sp>
      <p:sp>
        <p:nvSpPr>
          <p:cNvPr id="1048596" name="Slide Number Placeholder 3"/>
          <p:cNvSpPr>
            <a:spLocks noGrp="1"/>
          </p:cNvSpPr>
          <p:nvPr>
            <p:ph type="sldNum" sz="quarter" idx="12"/>
          </p:nvPr>
        </p:nvSpPr>
        <p:spPr>
          <a:xfrm>
            <a:off x="10616400" y="791022"/>
            <a:ext cx="622800" cy="230832"/>
          </a:xfrm>
        </p:spPr>
        <p:txBody>
          <a:bodyPr/>
          <a:lstStyle/>
          <a:p>
            <a:r>
              <a:rPr lang="en-US" dirty="0"/>
              <a:t>3</a:t>
            </a:r>
            <a:endParaRPr lang="en-GB" dirty="0"/>
          </a:p>
        </p:txBody>
      </p:sp>
      <p:sp>
        <p:nvSpPr>
          <p:cNvPr id="1048597" name="Title 7"/>
          <p:cNvSpPr>
            <a:spLocks noGrp="1"/>
          </p:cNvSpPr>
          <p:nvPr>
            <p:ph type="ctrTitle"/>
          </p:nvPr>
        </p:nvSpPr>
        <p:spPr>
          <a:xfrm>
            <a:off x="964884" y="2089858"/>
            <a:ext cx="9965844" cy="2649857"/>
          </a:xfrm>
        </p:spPr>
        <p:txBody>
          <a:bodyPr>
            <a:normAutofit/>
          </a:bodyPr>
          <a:lstStyle/>
          <a:p>
            <a:pPr>
              <a:lnSpc>
                <a:spcPts val="2880"/>
              </a:lnSpc>
              <a:spcBef>
                <a:spcPts val="0"/>
              </a:spcBef>
              <a:spcAft>
                <a:spcPts val="992"/>
              </a:spcAft>
            </a:pPr>
            <a:endParaRPr lang="en-GB" sz="3600" dirty="0">
              <a:solidFill>
                <a:srgbClr val="FF0000"/>
              </a:solidFill>
              <a:cs typeface="Arial"/>
            </a:endParaRPr>
          </a:p>
          <a:p>
            <a:endParaRPr lang="en-US" dirty="0">
              <a:solidFill>
                <a:srgbClr val="FF0000"/>
              </a:solidFill>
              <a:cs typeface="Arial"/>
            </a:endParaRPr>
          </a:p>
        </p:txBody>
      </p:sp>
      <p:graphicFrame>
        <p:nvGraphicFramePr>
          <p:cNvPr id="4194304" name="Table 4"/>
          <p:cNvGraphicFramePr>
            <a:graphicFrameLocks noGrp="1"/>
          </p:cNvGraphicFramePr>
          <p:nvPr/>
        </p:nvGraphicFramePr>
        <p:xfrm>
          <a:off x="969963" y="3208020"/>
          <a:ext cx="10279062" cy="2194560"/>
        </p:xfrm>
        <a:graphic>
          <a:graphicData uri="http://schemas.openxmlformats.org/drawingml/2006/table">
            <a:tbl>
              <a:tblPr/>
              <a:tblGrid>
                <a:gridCol w="3426354">
                  <a:extLst>
                    <a:ext uri="{9D8B030D-6E8A-4147-A177-3AD203B41FA5}">
                      <a16:colId xmlns:a16="http://schemas.microsoft.com/office/drawing/2014/main" val="20000"/>
                    </a:ext>
                  </a:extLst>
                </a:gridCol>
                <a:gridCol w="3426354">
                  <a:extLst>
                    <a:ext uri="{9D8B030D-6E8A-4147-A177-3AD203B41FA5}">
                      <a16:colId xmlns:a16="http://schemas.microsoft.com/office/drawing/2014/main" val="20001"/>
                    </a:ext>
                  </a:extLst>
                </a:gridCol>
                <a:gridCol w="3426354">
                  <a:extLst>
                    <a:ext uri="{9D8B030D-6E8A-4147-A177-3AD203B41FA5}">
                      <a16:colId xmlns:a16="http://schemas.microsoft.com/office/drawing/2014/main" val="20002"/>
                    </a:ext>
                  </a:extLst>
                </a:gridCol>
              </a:tblGrid>
              <a:tr h="0">
                <a:tc>
                  <a:txBody>
                    <a:bodyPr/>
                    <a:lstStyle/>
                    <a:p>
                      <a:pPr>
                        <a:buNone/>
                      </a:pPr>
                      <a:r>
                        <a:rPr lang="en-IN"/>
                        <a:t>Movie Name</a:t>
                      </a:r>
                    </a:p>
                  </a:txBody>
                  <a:tcPr anchor="ctr">
                    <a:lnL>
                      <a:noFill/>
                    </a:lnL>
                    <a:lnR>
                      <a:noFill/>
                    </a:lnR>
                    <a:lnT>
                      <a:noFill/>
                    </a:lnT>
                    <a:lnB>
                      <a:noFill/>
                    </a:lnB>
                    <a:noFill/>
                  </a:tcPr>
                </a:tc>
                <a:tc>
                  <a:txBody>
                    <a:bodyPr/>
                    <a:lstStyle/>
                    <a:p>
                      <a:pPr>
                        <a:buNone/>
                      </a:pPr>
                      <a:r>
                        <a:rPr lang="en-IN"/>
                        <a:t>Ratings</a:t>
                      </a:r>
                    </a:p>
                  </a:txBody>
                  <a:tcPr anchor="ctr">
                    <a:lnL>
                      <a:noFill/>
                    </a:lnL>
                    <a:lnR>
                      <a:noFill/>
                    </a:lnR>
                    <a:lnT>
                      <a:noFill/>
                    </a:lnT>
                    <a:lnB>
                      <a:noFill/>
                    </a:lnB>
                    <a:noFill/>
                  </a:tcPr>
                </a:tc>
                <a:tc>
                  <a:txBody>
                    <a:bodyPr/>
                    <a:lstStyle/>
                    <a:p>
                      <a:pPr>
                        <a:buNone/>
                      </a:pPr>
                      <a:r>
                        <a:rPr lang="en-IN"/>
                        <a:t>Metascore</a:t>
                      </a:r>
                    </a:p>
                  </a:txBody>
                  <a:tcPr anchor="ctr">
                    <a:lnL>
                      <a:noFill/>
                    </a:lnL>
                    <a:lnR>
                      <a:noFill/>
                    </a:lnR>
                    <a:lnT>
                      <a:noFill/>
                    </a:lnT>
                    <a:lnB>
                      <a:noFill/>
                    </a:lnB>
                    <a:noFill/>
                  </a:tcPr>
                </a:tc>
                <a:extLst>
                  <a:ext uri="{0D108BD9-81ED-4DB2-BD59-A6C34878D82A}">
                    <a16:rowId xmlns:a16="http://schemas.microsoft.com/office/drawing/2014/main" val="10000"/>
                  </a:ext>
                </a:extLst>
              </a:tr>
              <a:tr h="0">
                <a:tc>
                  <a:txBody>
                    <a:bodyPr/>
                    <a:lstStyle/>
                    <a:p>
                      <a:pPr>
                        <a:buNone/>
                      </a:pPr>
                      <a:r>
                        <a:rPr lang="en-IN"/>
                        <a:t>The Shawshank Redemption</a:t>
                      </a:r>
                    </a:p>
                  </a:txBody>
                  <a:tcPr anchor="ctr">
                    <a:lnL>
                      <a:noFill/>
                    </a:lnL>
                    <a:lnR>
                      <a:noFill/>
                    </a:lnR>
                    <a:lnT>
                      <a:noFill/>
                    </a:lnT>
                    <a:lnB>
                      <a:noFill/>
                    </a:lnB>
                    <a:noFill/>
                  </a:tcPr>
                </a:tc>
                <a:tc>
                  <a:txBody>
                    <a:bodyPr/>
                    <a:lstStyle/>
                    <a:p>
                      <a:pPr>
                        <a:buNone/>
                      </a:pPr>
                      <a:r>
                        <a:rPr lang="en-IN"/>
                        <a:t>9.2</a:t>
                      </a:r>
                    </a:p>
                  </a:txBody>
                  <a:tcPr anchor="ctr">
                    <a:lnL>
                      <a:noFill/>
                    </a:lnL>
                    <a:lnR>
                      <a:noFill/>
                    </a:lnR>
                    <a:lnT>
                      <a:noFill/>
                    </a:lnT>
                    <a:lnB>
                      <a:noFill/>
                    </a:lnB>
                    <a:noFill/>
                  </a:tcPr>
                </a:tc>
                <a:tc>
                  <a:txBody>
                    <a:bodyPr/>
                    <a:lstStyle/>
                    <a:p>
                      <a:pPr>
                        <a:buNone/>
                      </a:pPr>
                      <a:r>
                        <a:rPr lang="en-IN"/>
                        <a:t>82</a:t>
                      </a:r>
                    </a:p>
                  </a:txBody>
                  <a:tcPr anchor="ctr">
                    <a:lnL>
                      <a:noFill/>
                    </a:lnL>
                    <a:lnR>
                      <a:noFill/>
                    </a:lnR>
                    <a:lnT>
                      <a:noFill/>
                    </a:lnT>
                    <a:lnB>
                      <a:noFill/>
                    </a:lnB>
                    <a:noFill/>
                  </a:tcPr>
                </a:tc>
                <a:extLst>
                  <a:ext uri="{0D108BD9-81ED-4DB2-BD59-A6C34878D82A}">
                    <a16:rowId xmlns:a16="http://schemas.microsoft.com/office/drawing/2014/main" val="10001"/>
                  </a:ext>
                </a:extLst>
              </a:tr>
              <a:tr h="0">
                <a:tc>
                  <a:txBody>
                    <a:bodyPr/>
                    <a:lstStyle/>
                    <a:p>
                      <a:pPr>
                        <a:buNone/>
                      </a:pPr>
                      <a:r>
                        <a:rPr lang="en-IN"/>
                        <a:t>The Godfather</a:t>
                      </a:r>
                    </a:p>
                  </a:txBody>
                  <a:tcPr anchor="ctr">
                    <a:lnL>
                      <a:noFill/>
                    </a:lnL>
                    <a:lnR>
                      <a:noFill/>
                    </a:lnR>
                    <a:lnT>
                      <a:noFill/>
                    </a:lnT>
                    <a:lnB>
                      <a:noFill/>
                    </a:lnB>
                    <a:noFill/>
                  </a:tcPr>
                </a:tc>
                <a:tc>
                  <a:txBody>
                    <a:bodyPr/>
                    <a:lstStyle/>
                    <a:p>
                      <a:pPr>
                        <a:buNone/>
                      </a:pPr>
                      <a:r>
                        <a:rPr lang="en-IN"/>
                        <a:t>9.2</a:t>
                      </a:r>
                    </a:p>
                  </a:txBody>
                  <a:tcPr anchor="ctr">
                    <a:lnL>
                      <a:noFill/>
                    </a:lnL>
                    <a:lnR>
                      <a:noFill/>
                    </a:lnR>
                    <a:lnT>
                      <a:noFill/>
                    </a:lnT>
                    <a:lnB>
                      <a:noFill/>
                    </a:lnB>
                    <a:noFill/>
                  </a:tcPr>
                </a:tc>
                <a:tc>
                  <a:txBody>
                    <a:bodyPr/>
                    <a:lstStyle/>
                    <a:p>
                      <a:pPr>
                        <a:buNone/>
                      </a:pPr>
                      <a:r>
                        <a:rPr lang="en-IN"/>
                        <a:t>100</a:t>
                      </a:r>
                    </a:p>
                  </a:txBody>
                  <a:tcPr anchor="ctr">
                    <a:lnL>
                      <a:noFill/>
                    </a:lnL>
                    <a:lnR>
                      <a:noFill/>
                    </a:lnR>
                    <a:lnT>
                      <a:noFill/>
                    </a:lnT>
                    <a:lnB>
                      <a:noFill/>
                    </a:lnB>
                    <a:noFill/>
                  </a:tcPr>
                </a:tc>
                <a:extLst>
                  <a:ext uri="{0D108BD9-81ED-4DB2-BD59-A6C34878D82A}">
                    <a16:rowId xmlns:a16="http://schemas.microsoft.com/office/drawing/2014/main" val="10002"/>
                  </a:ext>
                </a:extLst>
              </a:tr>
              <a:tr h="0">
                <a:tc>
                  <a:txBody>
                    <a:bodyPr/>
                    <a:lstStyle/>
                    <a:p>
                      <a:pPr>
                        <a:buNone/>
                      </a:pPr>
                      <a:r>
                        <a:rPr lang="en-IN"/>
                        <a:t>The Dark Knight</a:t>
                      </a:r>
                    </a:p>
                  </a:txBody>
                  <a:tcPr anchor="ctr">
                    <a:lnL>
                      <a:noFill/>
                    </a:lnL>
                    <a:lnR>
                      <a:noFill/>
                    </a:lnR>
                    <a:lnT>
                      <a:noFill/>
                    </a:lnT>
                    <a:lnB>
                      <a:noFill/>
                    </a:lnB>
                    <a:noFill/>
                  </a:tcPr>
                </a:tc>
                <a:tc>
                  <a:txBody>
                    <a:bodyPr/>
                    <a:lstStyle/>
                    <a:p>
                      <a:pPr>
                        <a:buNone/>
                      </a:pPr>
                      <a:r>
                        <a:rPr lang="en-IN"/>
                        <a:t>9.0</a:t>
                      </a:r>
                    </a:p>
                  </a:txBody>
                  <a:tcPr anchor="ctr">
                    <a:lnL>
                      <a:noFill/>
                    </a:lnL>
                    <a:lnR>
                      <a:noFill/>
                    </a:lnR>
                    <a:lnT>
                      <a:noFill/>
                    </a:lnT>
                    <a:lnB>
                      <a:noFill/>
                    </a:lnB>
                    <a:noFill/>
                  </a:tcPr>
                </a:tc>
                <a:tc>
                  <a:txBody>
                    <a:bodyPr/>
                    <a:lstStyle/>
                    <a:p>
                      <a:pPr>
                        <a:buNone/>
                      </a:pPr>
                      <a:r>
                        <a:rPr lang="en-IN"/>
                        <a:t>84</a:t>
                      </a:r>
                    </a:p>
                  </a:txBody>
                  <a:tcPr anchor="ctr">
                    <a:lnL>
                      <a:noFill/>
                    </a:lnL>
                    <a:lnR>
                      <a:noFill/>
                    </a:lnR>
                    <a:lnT>
                      <a:noFill/>
                    </a:lnT>
                    <a:lnB>
                      <a:noFill/>
                    </a:lnB>
                    <a:noFill/>
                  </a:tcPr>
                </a:tc>
                <a:extLst>
                  <a:ext uri="{0D108BD9-81ED-4DB2-BD59-A6C34878D82A}">
                    <a16:rowId xmlns:a16="http://schemas.microsoft.com/office/drawing/2014/main" val="10003"/>
                  </a:ext>
                </a:extLst>
              </a:tr>
              <a:tr h="0">
                <a:tc>
                  <a:txBody>
                    <a:bodyPr/>
                    <a:lstStyle/>
                    <a:p>
                      <a:pPr>
                        <a:buNone/>
                      </a:pPr>
                      <a:r>
                        <a:rPr lang="en-IN" dirty="0"/>
                        <a:t>The Godfather Part II</a:t>
                      </a:r>
                    </a:p>
                  </a:txBody>
                  <a:tcPr anchor="ctr">
                    <a:lnL>
                      <a:noFill/>
                    </a:lnL>
                    <a:lnR>
                      <a:noFill/>
                    </a:lnR>
                    <a:lnT>
                      <a:noFill/>
                    </a:lnT>
                    <a:lnB>
                      <a:noFill/>
                    </a:lnB>
                    <a:noFill/>
                  </a:tcPr>
                </a:tc>
                <a:tc>
                  <a:txBody>
                    <a:bodyPr/>
                    <a:lstStyle/>
                    <a:p>
                      <a:pPr>
                        <a:buNone/>
                      </a:pPr>
                      <a:r>
                        <a:rPr lang="en-IN"/>
                        <a:t>9.0</a:t>
                      </a:r>
                    </a:p>
                  </a:txBody>
                  <a:tcPr anchor="ctr">
                    <a:lnL>
                      <a:noFill/>
                    </a:lnL>
                    <a:lnR>
                      <a:noFill/>
                    </a:lnR>
                    <a:lnT>
                      <a:noFill/>
                    </a:lnT>
                    <a:lnB>
                      <a:noFill/>
                    </a:lnB>
                    <a:noFill/>
                  </a:tcPr>
                </a:tc>
                <a:tc>
                  <a:txBody>
                    <a:bodyPr/>
                    <a:lstStyle/>
                    <a:p>
                      <a:pPr>
                        <a:buNone/>
                      </a:pPr>
                      <a:r>
                        <a:rPr lang="en-IN"/>
                        <a:t>90</a:t>
                      </a:r>
                    </a:p>
                  </a:txBody>
                  <a:tcPr anchor="ctr">
                    <a:lnL>
                      <a:noFill/>
                    </a:lnL>
                    <a:lnR>
                      <a:noFill/>
                    </a:lnR>
                    <a:lnT>
                      <a:noFill/>
                    </a:lnT>
                    <a:lnB>
                      <a:noFill/>
                    </a:lnB>
                    <a:noFill/>
                  </a:tcPr>
                </a:tc>
                <a:extLst>
                  <a:ext uri="{0D108BD9-81ED-4DB2-BD59-A6C34878D82A}">
                    <a16:rowId xmlns:a16="http://schemas.microsoft.com/office/drawing/2014/main" val="10004"/>
                  </a:ext>
                </a:extLst>
              </a:tr>
              <a:tr h="0">
                <a:tc>
                  <a:txBody>
                    <a:bodyPr/>
                    <a:lstStyle/>
                    <a:p>
                      <a:pPr>
                        <a:buNone/>
                      </a:pPr>
                      <a:r>
                        <a:rPr lang="en-IN" dirty="0"/>
                        <a:t>12 Angry Men</a:t>
                      </a:r>
                    </a:p>
                  </a:txBody>
                  <a:tcPr anchor="ctr">
                    <a:lnL>
                      <a:noFill/>
                    </a:lnL>
                    <a:lnR>
                      <a:noFill/>
                    </a:lnR>
                    <a:lnT>
                      <a:noFill/>
                    </a:lnT>
                    <a:lnB>
                      <a:noFill/>
                    </a:lnB>
                    <a:noFill/>
                  </a:tcPr>
                </a:tc>
                <a:tc>
                  <a:txBody>
                    <a:bodyPr/>
                    <a:lstStyle/>
                    <a:p>
                      <a:pPr>
                        <a:buNone/>
                      </a:pPr>
                      <a:r>
                        <a:rPr lang="en-IN"/>
                        <a:t>9.0</a:t>
                      </a:r>
                    </a:p>
                  </a:txBody>
                  <a:tcPr anchor="ctr">
                    <a:lnL>
                      <a:noFill/>
                    </a:lnL>
                    <a:lnR>
                      <a:noFill/>
                    </a:lnR>
                    <a:lnT>
                      <a:noFill/>
                    </a:lnT>
                    <a:lnB>
                      <a:noFill/>
                    </a:lnB>
                    <a:noFill/>
                  </a:tcPr>
                </a:tc>
                <a:tc>
                  <a:txBody>
                    <a:bodyPr/>
                    <a:lstStyle/>
                    <a:p>
                      <a:pPr>
                        <a:buNone/>
                      </a:pPr>
                      <a:r>
                        <a:rPr lang="en-IN" dirty="0"/>
                        <a:t>97</a:t>
                      </a:r>
                    </a:p>
                  </a:txBody>
                  <a:tcPr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sp>
        <p:nvSpPr>
          <p:cNvPr id="1048598" name="Subtitle 6"/>
          <p:cNvSpPr>
            <a:spLocks noGrp="1"/>
          </p:cNvSpPr>
          <p:nvPr>
            <p:ph type="subTitle" idx="1"/>
          </p:nvPr>
        </p:nvSpPr>
        <p:spPr>
          <a:xfrm>
            <a:off x="954000" y="1179871"/>
            <a:ext cx="7200000" cy="1365284"/>
          </a:xfrm>
        </p:spPr>
        <p:txBody>
          <a:bodyPr/>
          <a:lstStyle/>
          <a:p>
            <a:r>
              <a:rPr lang="en-US" dirty="0"/>
              <a:t>Summary of my Dataset:Ds088</a:t>
            </a:r>
          </a:p>
          <a:p>
            <a:r>
              <a:rPr lang="en-IN" sz="1600" dirty="0"/>
              <a:t>Independent variables </a:t>
            </a:r>
            <a:r>
              <a:rPr lang="en-IN" sz="1600" b="0" dirty="0"/>
              <a:t>: release year, number of votes</a:t>
            </a:r>
          </a:p>
          <a:p>
            <a:r>
              <a:rPr lang="en-IN" sz="1600" dirty="0"/>
              <a:t>Dependent Variables: </a:t>
            </a:r>
            <a:r>
              <a:rPr lang="en-IN" sz="1600" b="0" dirty="0"/>
              <a:t>rating</a:t>
            </a:r>
          </a:p>
          <a:p>
            <a:r>
              <a:rPr lang="en-IN" sz="1600" dirty="0"/>
              <a:t>Five rows data from the file name: </a:t>
            </a:r>
            <a:r>
              <a:rPr lang="en-IN" b="0" dirty="0"/>
              <a:t>PopularMovies.csv</a:t>
            </a:r>
            <a:endParaRPr lang="en-IN"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ubtitle 1"/>
          <p:cNvSpPr>
            <a:spLocks noGrp="1"/>
          </p:cNvSpPr>
          <p:nvPr>
            <p:ph type="subTitle" idx="1"/>
          </p:nvPr>
        </p:nvSpPr>
        <p:spPr>
          <a:xfrm>
            <a:off x="1040880" y="1981200"/>
            <a:ext cx="10110240" cy="426720"/>
          </a:xfrm>
        </p:spPr>
        <p:txBody>
          <a:bodyPr vert="horz" lIns="0" tIns="0" rIns="0" bIns="0" rtlCol="0" anchor="t">
            <a:noAutofit/>
          </a:bodyPr>
          <a:lstStyle/>
          <a:p>
            <a:r>
              <a:rPr lang="en-US" dirty="0"/>
              <a:t>Dataset </a:t>
            </a:r>
            <a:r>
              <a:rPr lang="en-US" dirty="0">
                <a:solidFill>
                  <a:srgbClr val="203232"/>
                </a:solidFill>
              </a:rPr>
              <a:t>ID</a:t>
            </a:r>
            <a:r>
              <a:rPr lang="en-US" sz="1600" dirty="0">
                <a:solidFill>
                  <a:srgbClr val="FF0000"/>
                </a:solidFill>
              </a:rPr>
              <a:t>:   </a:t>
            </a:r>
            <a:r>
              <a:rPr lang="en-US" sz="2400" dirty="0">
                <a:solidFill>
                  <a:srgbClr val="FF0000"/>
                </a:solidFill>
              </a:rPr>
              <a:t>(DS088 and filename:</a:t>
            </a:r>
            <a:r>
              <a:rPr lang="en-IN" sz="2000" b="0" dirty="0">
                <a:latin typeface="Calibri" panose="020F0502020204030204" pitchFamily="34" charset="0"/>
                <a:ea typeface="Calibri" panose="020F0502020204030204" pitchFamily="34" charset="0"/>
                <a:cs typeface="Calibri" panose="020F0502020204030204" pitchFamily="34" charset="0"/>
              </a:rPr>
              <a:t>PopularMovies.csv</a:t>
            </a:r>
            <a:r>
              <a:rPr lang="en-US" sz="2400" dirty="0">
                <a:solidFill>
                  <a:srgbClr val="FF0000"/>
                </a:solidFill>
              </a:rPr>
              <a:t>)</a:t>
            </a:r>
          </a:p>
        </p:txBody>
      </p:sp>
      <p:sp>
        <p:nvSpPr>
          <p:cNvPr id="1048603" name="Footer Placeholder 2"/>
          <p:cNvSpPr>
            <a:spLocks noGrp="1"/>
          </p:cNvSpPr>
          <p:nvPr>
            <p:ph type="ftr" sz="quarter" idx="11"/>
          </p:nvPr>
        </p:nvSpPr>
        <p:spPr>
          <a:xfrm>
            <a:off x="965288" y="548854"/>
            <a:ext cx="11104792" cy="1211120"/>
          </a:xfrm>
        </p:spPr>
        <p:txBody>
          <a:bodyPr/>
          <a:lstStyle/>
          <a:p>
            <a:r>
              <a:rPr lang="en-GB" dirty="0"/>
              <a:t>7COM1079-2025  Student Group No:A69                    Names of Student Group Attendees: Geetha Aaluri,</a:t>
            </a:r>
          </a:p>
          <a:p>
            <a:r>
              <a:rPr lang="en-GB" dirty="0"/>
              <a:t>                                                                                                                                                  Jaswanth Bandari , </a:t>
            </a:r>
          </a:p>
          <a:p>
            <a:r>
              <a:rPr lang="en-GB" dirty="0"/>
              <a:t>                                                                                                                                                   Manoj  Kuka ,</a:t>
            </a:r>
          </a:p>
          <a:p>
            <a:r>
              <a:rPr lang="en-GB" dirty="0"/>
              <a:t>                                                                                                                                                  Srikanth Koli, </a:t>
            </a:r>
          </a:p>
          <a:p>
            <a:r>
              <a:rPr lang="en-GB" dirty="0"/>
              <a:t>                                                                                                                                              Prathyusha Yinnamuri </a:t>
            </a:r>
          </a:p>
          <a:p>
            <a:r>
              <a:rPr lang="en-GB" dirty="0"/>
              <a:t> </a:t>
            </a:r>
          </a:p>
          <a:p>
            <a:endParaRPr lang="en-GB" dirty="0"/>
          </a:p>
          <a:p>
            <a:endParaRPr lang="en-GB" dirty="0"/>
          </a:p>
          <a:p>
            <a:endParaRPr lang="en-GB" dirty="0"/>
          </a:p>
        </p:txBody>
      </p:sp>
      <p:sp>
        <p:nvSpPr>
          <p:cNvPr id="1048604" name="Slide Number Placeholder 3"/>
          <p:cNvSpPr>
            <a:spLocks noGrp="1"/>
          </p:cNvSpPr>
          <p:nvPr>
            <p:ph type="sldNum" sz="quarter" idx="12"/>
          </p:nvPr>
        </p:nvSpPr>
        <p:spPr>
          <a:xfrm>
            <a:off x="10954512" y="555565"/>
            <a:ext cx="622800" cy="230832"/>
          </a:xfrm>
        </p:spPr>
        <p:txBody>
          <a:bodyPr/>
          <a:lstStyle/>
          <a:p>
            <a:r>
              <a:rPr lang="en-US" dirty="0"/>
              <a:t>2</a:t>
            </a:r>
            <a:endParaRPr lang="en-GB" dirty="0"/>
          </a:p>
        </p:txBody>
      </p:sp>
      <p:sp>
        <p:nvSpPr>
          <p:cNvPr id="1048605" name="Title 4"/>
          <p:cNvSpPr>
            <a:spLocks noGrp="1"/>
          </p:cNvSpPr>
          <p:nvPr>
            <p:ph type="ctrTitle"/>
          </p:nvPr>
        </p:nvSpPr>
        <p:spPr>
          <a:xfrm>
            <a:off x="965287" y="2407919"/>
            <a:ext cx="10974945" cy="4397835"/>
          </a:xfrm>
        </p:spPr>
        <p:txBody>
          <a:bodyPr>
            <a:noAutofit/>
          </a:bodyPr>
          <a:lstStyle/>
          <a:p>
            <a:pPr>
              <a:lnSpc>
                <a:spcPct val="100000"/>
              </a:lnSpc>
            </a:pPr>
            <a:r>
              <a:rPr lang="en-US" sz="2400" b="0" dirty="0">
                <a:latin typeface="Calibri"/>
                <a:cs typeface="Calibri"/>
              </a:rPr>
              <a:t>This dataset is interesting to us because </a:t>
            </a:r>
            <a:r>
              <a:rPr lang="en-US" sz="2400" b="0" dirty="0">
                <a:solidFill>
                  <a:srgbClr val="FF0000"/>
                </a:solidFill>
                <a:latin typeface="Calibri"/>
                <a:cs typeface="Calibri"/>
              </a:rPr>
              <a:t>(one sentence): </a:t>
            </a:r>
            <a:r>
              <a:rPr lang="en-US" sz="2000" b="0" dirty="0">
                <a:latin typeface="Calibri" panose="020F0502020204030204" pitchFamily="34" charset="0"/>
                <a:ea typeface="Calibri" panose="020F0502020204030204" pitchFamily="34" charset="0"/>
                <a:cs typeface="Calibri" panose="020F0502020204030204" pitchFamily="34" charset="0"/>
              </a:rPr>
              <a:t>This dataset contains detailed information about popular movies, including their titles, ratings, release years, IMDb links, votes, meta scores, and reviews, making it valuable for analyzing film trends and audience interests.</a:t>
            </a:r>
            <a:br>
              <a:rPr lang="en-US" sz="2400" b="0" dirty="0">
                <a:latin typeface="Calibri" panose="020F0502020204030204" pitchFamily="34" charset="0"/>
                <a:cs typeface="Calibri" panose="020F0502020204030204" pitchFamily="34" charset="0"/>
              </a:rPr>
            </a:br>
            <a:r>
              <a:rPr lang="en-US" sz="2400" b="0" i="1" dirty="0">
                <a:solidFill>
                  <a:schemeClr val="accent2">
                    <a:lumMod val="75000"/>
                  </a:schemeClr>
                </a:solidFill>
                <a:latin typeface="Calibri"/>
                <a:cs typeface="Calibri"/>
              </a:rPr>
              <a:t>From the column headings in your dataset choose ONE independent * and ONE dependent variable . </a:t>
            </a:r>
            <a:br>
              <a:rPr lang="en-US" sz="2400" b="0" i="1" dirty="0">
                <a:solidFill>
                  <a:schemeClr val="accent2">
                    <a:lumMod val="75000"/>
                  </a:schemeClr>
                </a:solidFill>
                <a:latin typeface="Calibri" panose="020F0502020204030204" pitchFamily="34" charset="0"/>
                <a:cs typeface="Calibri" panose="020F0502020204030204" pitchFamily="34" charset="0"/>
              </a:rPr>
            </a:br>
            <a:r>
              <a:rPr lang="en-US" sz="2400" b="0" dirty="0">
                <a:latin typeface="Calibri"/>
                <a:cs typeface="Calibri"/>
              </a:rPr>
              <a:t>Our  Independent variable is: (</a:t>
            </a:r>
            <a:r>
              <a:rPr lang="en-US" sz="2000" b="0" dirty="0">
                <a:latin typeface="Calibri" panose="020F0502020204030204" pitchFamily="34" charset="0"/>
                <a:ea typeface="Calibri" panose="020F0502020204030204" pitchFamily="34" charset="0"/>
                <a:cs typeface="Calibri" panose="020F0502020204030204" pitchFamily="34" charset="0"/>
              </a:rPr>
              <a:t>number of votes</a:t>
            </a:r>
            <a:r>
              <a:rPr lang="en-US" sz="2400" b="0" dirty="0">
                <a:solidFill>
                  <a:srgbClr val="FF0000"/>
                </a:solidFill>
                <a:latin typeface="Calibri"/>
                <a:ea typeface="Calibri" panose="020F0502020204030204" pitchFamily="34" charset="0"/>
                <a:cs typeface="Calibri"/>
              </a:rPr>
              <a:t>)</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Independent variable datatype is (select one): Interval/measuremement  variable was </a:t>
            </a:r>
            <a:r>
              <a:rPr lang="en-US" sz="2400" b="0" dirty="0" err="1">
                <a:latin typeface="Calibri"/>
                <a:cs typeface="Calibri"/>
              </a:rPr>
              <a:t>Released_Year</a:t>
            </a:r>
            <a:r>
              <a:rPr lang="en-US" sz="2400" b="0" dirty="0">
                <a:latin typeface="Calibri"/>
                <a:cs typeface="Calibri"/>
              </a:rPr>
              <a:t> , it was numeric , but not ratio scale (year 0 isn’t meaningful)</a:t>
            </a:r>
            <a:br>
              <a:rPr lang="en-US" sz="2400" b="0" dirty="0">
                <a:solidFill>
                  <a:srgbClr val="FF0000"/>
                </a:solidFill>
                <a:latin typeface="Calibri" panose="020F0502020204030204" pitchFamily="34" charset="0"/>
                <a:cs typeface="Calibri" panose="020F0502020204030204" pitchFamily="34" charset="0"/>
              </a:rPr>
            </a:br>
            <a:r>
              <a:rPr lang="en-US" sz="2400" b="0" dirty="0">
                <a:latin typeface="Calibri"/>
                <a:cs typeface="Calibri"/>
              </a:rPr>
              <a:t>Our Dependent variable is: </a:t>
            </a:r>
            <a:r>
              <a:rPr lang="en-US" sz="2400" b="0" dirty="0">
                <a:solidFill>
                  <a:srgbClr val="FF0000"/>
                </a:solidFill>
                <a:latin typeface="Calibri"/>
                <a:cs typeface="Calibri"/>
              </a:rPr>
              <a:t>(</a:t>
            </a:r>
            <a:r>
              <a:rPr lang="en-IN" sz="2000" b="0" dirty="0">
                <a:latin typeface="Calibri" panose="020F0502020204030204" pitchFamily="34" charset="0"/>
                <a:ea typeface="Calibri" panose="020F0502020204030204" pitchFamily="34" charset="0"/>
                <a:cs typeface="Calibri" panose="020F0502020204030204" pitchFamily="34" charset="0"/>
              </a:rPr>
              <a:t>ratings</a:t>
            </a:r>
            <a:r>
              <a:rPr lang="en-US" sz="2400" b="0" dirty="0">
                <a:solidFill>
                  <a:srgbClr val="FF0000"/>
                </a:solidFill>
                <a:latin typeface="Calibri"/>
                <a:cs typeface="Calibri"/>
              </a:rPr>
              <a:t>)</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Dependent variable datatype is : Interval numeric scale with equal intervals ,but no  true zero.                </a:t>
            </a:r>
            <a:endParaRPr lang="en-US" sz="2400" b="0" dirty="0">
              <a:solidFill>
                <a:srgbClr val="FF0000"/>
              </a:solidFill>
              <a:latin typeface="Calibri"/>
              <a:cs typeface="Calibri"/>
            </a:endParaRPr>
          </a:p>
        </p:txBody>
      </p:sp>
      <p:sp>
        <p:nvSpPr>
          <p:cNvPr id="1048606" name="TextBox 5"/>
          <p:cNvSpPr txBox="1"/>
          <p:nvPr/>
        </p:nvSpPr>
        <p:spPr>
          <a:xfrm>
            <a:off x="6980903" y="5882424"/>
            <a:ext cx="4866967" cy="891540"/>
          </a:xfrm>
          <a:prstGeom prst="rect">
            <a:avLst/>
          </a:prstGeom>
          <a:noFill/>
        </p:spPr>
        <p:txBody>
          <a:bodyPr wrap="square" rtlCol="0">
            <a:spAutoFit/>
          </a:bodyPr>
          <a:lstStyle/>
          <a:p>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*For comparison of two nominal variables and for comparison of proportions you use two (or more) independent variables (see next slide)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Subtitle 1"/>
          <p:cNvSpPr>
            <a:spLocks noGrp="1"/>
          </p:cNvSpPr>
          <p:nvPr>
            <p:ph type="subTitle" idx="1"/>
          </p:nvPr>
        </p:nvSpPr>
        <p:spPr>
          <a:xfrm>
            <a:off x="965289" y="1147638"/>
            <a:ext cx="9753625" cy="230832"/>
          </a:xfrm>
        </p:spPr>
        <p:txBody>
          <a:bodyPr/>
          <a:lstStyle/>
          <a:p>
            <a:pPr>
              <a:spcAft>
                <a:spcPts val="0"/>
              </a:spcAft>
            </a:pPr>
            <a:r>
              <a:rPr lang="en-GB" dirty="0"/>
              <a:t>Our Research Question is </a:t>
            </a:r>
            <a:r>
              <a:rPr lang="en-GB" sz="1800" dirty="0">
                <a:solidFill>
                  <a:srgbClr val="FF0000"/>
                </a:solidFill>
              </a:rPr>
              <a:t>Choose ONE of the three templates below replacing the blue text with your variables – then add hypotheses as shown in next slide:</a:t>
            </a:r>
          </a:p>
        </p:txBody>
      </p:sp>
      <p:sp>
        <p:nvSpPr>
          <p:cNvPr id="1048611" name="Footer Placeholder 2"/>
          <p:cNvSpPr>
            <a:spLocks noGrp="1"/>
          </p:cNvSpPr>
          <p:nvPr>
            <p:ph type="ftr" sz="quarter" idx="11"/>
          </p:nvPr>
        </p:nvSpPr>
        <p:spPr/>
        <p:txBody>
          <a:bodyPr/>
          <a:lstStyle/>
          <a:p>
            <a:r>
              <a:rPr lang="en-GB" dirty="0"/>
              <a:t>PRE 7COM1079-2025  Student Group No: A69</a:t>
            </a:r>
          </a:p>
        </p:txBody>
      </p:sp>
      <p:sp>
        <p:nvSpPr>
          <p:cNvPr id="1048612" name="Slide Number Placeholder 3"/>
          <p:cNvSpPr>
            <a:spLocks noGrp="1"/>
          </p:cNvSpPr>
          <p:nvPr>
            <p:ph type="sldNum" sz="quarter" idx="12"/>
          </p:nvPr>
        </p:nvSpPr>
        <p:spPr>
          <a:xfrm>
            <a:off x="10616400" y="791022"/>
            <a:ext cx="622800" cy="230832"/>
          </a:xfrm>
        </p:spPr>
        <p:txBody>
          <a:bodyPr/>
          <a:lstStyle/>
          <a:p>
            <a:r>
              <a:rPr lang="en-US" dirty="0"/>
              <a:t>3</a:t>
            </a:r>
            <a:endParaRPr lang="en-GB" dirty="0"/>
          </a:p>
        </p:txBody>
      </p:sp>
      <p:sp>
        <p:nvSpPr>
          <p:cNvPr id="1048613" name="Title 4"/>
          <p:cNvSpPr>
            <a:spLocks noGrp="1"/>
          </p:cNvSpPr>
          <p:nvPr>
            <p:ph type="ctrTitle"/>
          </p:nvPr>
        </p:nvSpPr>
        <p:spPr>
          <a:xfrm>
            <a:off x="965289" y="1893914"/>
            <a:ext cx="10640594" cy="3562989"/>
          </a:xfrm>
        </p:spPr>
        <p:txBody>
          <a:bodyPr>
            <a:noAutofit/>
          </a:bodyPr>
          <a:lstStyle/>
          <a:p>
            <a:pPr>
              <a:lnSpc>
                <a:spcPct val="100000"/>
              </a:lnSpc>
            </a:pPr>
            <a:r>
              <a:rPr lang="en-IE" sz="2400" dirty="0">
                <a:effectLst/>
                <a:latin typeface="Calibri"/>
                <a:ea typeface="Calibri" panose="020F0502020204030204" pitchFamily="34" charset="0"/>
                <a:cs typeface="Times New Roman"/>
              </a:rPr>
              <a:t>Template </a:t>
            </a:r>
            <a:r>
              <a:rPr lang="en-IE" sz="2400" baseline="30000" dirty="0">
                <a:effectLst/>
                <a:latin typeface="Calibri"/>
                <a:ea typeface="Calibri" panose="020F0502020204030204" pitchFamily="34" charset="0"/>
                <a:cs typeface="Times New Roman"/>
              </a:rPr>
              <a:t>1</a:t>
            </a:r>
            <a:r>
              <a:rPr lang="en-IE" sz="2400" dirty="0">
                <a:effectLst/>
                <a:latin typeface="Calibri"/>
                <a:ea typeface="Calibri" panose="020F0502020204030204" pitchFamily="34" charset="0"/>
                <a:cs typeface="Times New Roman"/>
              </a:rPr>
              <a:t>: </a:t>
            </a:r>
            <a:r>
              <a:rPr lang="en-IE" sz="2400" b="0" dirty="0">
                <a:effectLst/>
                <a:latin typeface="Calibri"/>
                <a:ea typeface="Calibri" panose="020F0502020204030204" pitchFamily="34" charset="0"/>
                <a:cs typeface="Times New Roman"/>
              </a:rPr>
              <a:t>Interval/Ordinal vs Interval/Ordinal: “Is there a correlation between  </a:t>
            </a:r>
            <a:br>
              <a:rPr lang="en-IE" sz="2400" dirty="0">
                <a:effectLst/>
                <a:latin typeface="Calibri" panose="020F0502020204030204" pitchFamily="34" charset="0"/>
                <a:ea typeface="Calibri" panose="020F0502020204030204" pitchFamily="34" charset="0"/>
                <a:cs typeface="Times New Roman" panose="02020603050405020304" pitchFamily="18" charset="0"/>
              </a:rPr>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graphicFrame>
        <p:nvGraphicFramePr>
          <p:cNvPr id="4194305" name="Table 5"/>
          <p:cNvGraphicFramePr>
            <a:graphicFrameLocks noGrp="1"/>
          </p:cNvGraphicFramePr>
          <p:nvPr/>
        </p:nvGraphicFramePr>
        <p:xfrm>
          <a:off x="965289" y="2250531"/>
          <a:ext cx="9879692" cy="3231628"/>
        </p:xfrm>
        <a:graphic>
          <a:graphicData uri="http://schemas.openxmlformats.org/drawingml/2006/table">
            <a:tbl>
              <a:tblPr/>
              <a:tblGrid>
                <a:gridCol w="2469923">
                  <a:extLst>
                    <a:ext uri="{9D8B030D-6E8A-4147-A177-3AD203B41FA5}">
                      <a16:colId xmlns:a16="http://schemas.microsoft.com/office/drawing/2014/main" val="20000"/>
                    </a:ext>
                  </a:extLst>
                </a:gridCol>
                <a:gridCol w="2469923">
                  <a:extLst>
                    <a:ext uri="{9D8B030D-6E8A-4147-A177-3AD203B41FA5}">
                      <a16:colId xmlns:a16="http://schemas.microsoft.com/office/drawing/2014/main" val="20001"/>
                    </a:ext>
                  </a:extLst>
                </a:gridCol>
                <a:gridCol w="2469923">
                  <a:extLst>
                    <a:ext uri="{9D8B030D-6E8A-4147-A177-3AD203B41FA5}">
                      <a16:colId xmlns:a16="http://schemas.microsoft.com/office/drawing/2014/main" val="20002"/>
                    </a:ext>
                  </a:extLst>
                </a:gridCol>
                <a:gridCol w="2469923">
                  <a:extLst>
                    <a:ext uri="{9D8B030D-6E8A-4147-A177-3AD203B41FA5}">
                      <a16:colId xmlns:a16="http://schemas.microsoft.com/office/drawing/2014/main" val="20003"/>
                    </a:ext>
                  </a:extLst>
                </a:gridCol>
              </a:tblGrid>
              <a:tr h="467609">
                <a:tc>
                  <a:txBody>
                    <a:bodyPr/>
                    <a:lstStyle/>
                    <a:p>
                      <a:pPr>
                        <a:buNone/>
                      </a:pPr>
                      <a:r>
                        <a:rPr lang="en-IN" sz="1400">
                          <a:latin typeface="Calibri" panose="020F0502020204030204" pitchFamily="34" charset="0"/>
                          <a:ea typeface="Calibri" panose="020F0502020204030204" pitchFamily="34" charset="0"/>
                          <a:cs typeface="Calibri" panose="020F0502020204030204" pitchFamily="34" charset="0"/>
                        </a:rPr>
                        <a:t>Dependent Variable</a:t>
                      </a:r>
                    </a:p>
                  </a:txBody>
                  <a:tcPr marL="66146" marR="66146" marT="33073" marB="33073" anchor="ctr">
                    <a:lnL>
                      <a:noFill/>
                    </a:lnL>
                    <a:lnR>
                      <a:noFill/>
                    </a:lnR>
                    <a:lnT>
                      <a:noFill/>
                    </a:lnT>
                    <a:lnB>
                      <a:noFill/>
                    </a:lnB>
                    <a:noFill/>
                  </a:tcPr>
                </a:tc>
                <a:tc>
                  <a:txBody>
                    <a:bodyPr/>
                    <a:lstStyle/>
                    <a:p>
                      <a:pPr>
                        <a:buNone/>
                      </a:pPr>
                      <a:r>
                        <a:rPr lang="en-IN" sz="1400">
                          <a:latin typeface="Calibri" panose="020F0502020204030204" pitchFamily="34" charset="0"/>
                          <a:ea typeface="Calibri" panose="020F0502020204030204" pitchFamily="34" charset="0"/>
                          <a:cs typeface="Calibri" panose="020F0502020204030204" pitchFamily="34" charset="0"/>
                        </a:rPr>
                        <a:t>Independent Variable</a:t>
                      </a:r>
                    </a:p>
                  </a:txBody>
                  <a:tcPr marL="66146" marR="66146" marT="33073" marB="33073" anchor="ctr">
                    <a:lnL>
                      <a:noFill/>
                    </a:lnL>
                    <a:lnR>
                      <a:noFill/>
                    </a:lnR>
                    <a:lnT>
                      <a:noFill/>
                    </a:lnT>
                    <a:lnB>
                      <a:noFill/>
                    </a:lnB>
                    <a:noFill/>
                  </a:tcPr>
                </a:tc>
                <a:tc>
                  <a:txBody>
                    <a:bodyPr/>
                    <a:lstStyle/>
                    <a:p>
                      <a:pPr>
                        <a:buNone/>
                      </a:pPr>
                      <a:r>
                        <a:rPr lang="en-IN" sz="1400">
                          <a:latin typeface="Calibri" panose="020F0502020204030204" pitchFamily="34" charset="0"/>
                          <a:ea typeface="Calibri" panose="020F0502020204030204" pitchFamily="34" charset="0"/>
                          <a:cs typeface="Calibri" panose="020F0502020204030204" pitchFamily="34" charset="0"/>
                        </a:rPr>
                        <a:t>Type of Correlation Test</a:t>
                      </a:r>
                    </a:p>
                  </a:txBody>
                  <a:tcPr marL="66146" marR="66146" marT="33073" marB="33073" anchor="ctr">
                    <a:lnL>
                      <a:noFill/>
                    </a:lnL>
                    <a:lnR>
                      <a:noFill/>
                    </a:lnR>
                    <a:lnT>
                      <a:noFill/>
                    </a:lnT>
                    <a:lnB>
                      <a:noFill/>
                    </a:lnB>
                    <a:noFill/>
                  </a:tcPr>
                </a:tc>
                <a:tc>
                  <a:txBody>
                    <a:bodyPr/>
                    <a:lstStyle/>
                    <a:p>
                      <a:pPr>
                        <a:buNone/>
                      </a:pPr>
                      <a:r>
                        <a:rPr lang="en-IN" sz="1400">
                          <a:latin typeface="Calibri" panose="020F0502020204030204" pitchFamily="34" charset="0"/>
                          <a:ea typeface="Calibri" panose="020F0502020204030204" pitchFamily="34" charset="0"/>
                          <a:cs typeface="Calibri" panose="020F0502020204030204" pitchFamily="34" charset="0"/>
                        </a:rPr>
                        <a:t>Notes</a:t>
                      </a:r>
                    </a:p>
                  </a:txBody>
                  <a:tcPr marL="66146" marR="66146" marT="33073" marB="33073" anchor="ctr">
                    <a:lnL>
                      <a:noFill/>
                    </a:lnL>
                    <a:lnR>
                      <a:noFill/>
                    </a:lnR>
                    <a:lnT>
                      <a:noFill/>
                    </a:lnT>
                    <a:lnB>
                      <a:noFill/>
                    </a:lnB>
                    <a:noFill/>
                  </a:tcPr>
                </a:tc>
                <a:extLst>
                  <a:ext uri="{0D108BD9-81ED-4DB2-BD59-A6C34878D82A}">
                    <a16:rowId xmlns:a16="http://schemas.microsoft.com/office/drawing/2014/main" val="10000"/>
                  </a:ext>
                </a:extLst>
              </a:tr>
              <a:tr h="868326">
                <a:tc>
                  <a:txBody>
                    <a:bodyPr/>
                    <a:lstStyle/>
                    <a:p>
                      <a:pPr>
                        <a:buNone/>
                      </a:pPr>
                      <a:r>
                        <a:rPr lang="en-IN" sz="1400">
                          <a:latin typeface="Calibri" panose="020F0502020204030204" pitchFamily="34" charset="0"/>
                          <a:ea typeface="Calibri" panose="020F0502020204030204" pitchFamily="34" charset="0"/>
                          <a:cs typeface="Calibri" panose="020F0502020204030204" pitchFamily="34" charset="0"/>
                        </a:rPr>
                        <a:t>Ratings</a:t>
                      </a:r>
                    </a:p>
                  </a:txBody>
                  <a:tcPr marL="66146" marR="66146" marT="33073" marB="33073" anchor="ctr">
                    <a:lnL>
                      <a:noFill/>
                    </a:lnL>
                    <a:lnR>
                      <a:noFill/>
                    </a:lnR>
                    <a:lnT>
                      <a:noFill/>
                    </a:lnT>
                    <a:lnB>
                      <a:noFill/>
                    </a:lnB>
                    <a:noFill/>
                  </a:tcPr>
                </a:tc>
                <a:tc>
                  <a:txBody>
                    <a:bodyPr/>
                    <a:lstStyle/>
                    <a:p>
                      <a:pPr>
                        <a:buNone/>
                      </a:pPr>
                      <a:r>
                        <a:rPr lang="en-IN" sz="1400">
                          <a:latin typeface="Calibri" panose="020F0502020204030204" pitchFamily="34" charset="0"/>
                          <a:ea typeface="Calibri" panose="020F0502020204030204" pitchFamily="34" charset="0"/>
                          <a:cs typeface="Calibri" panose="020F0502020204030204" pitchFamily="34" charset="0"/>
                        </a:rPr>
                        <a:t>Metascore</a:t>
                      </a:r>
                    </a:p>
                  </a:txBody>
                  <a:tcPr marL="66146" marR="66146" marT="33073" marB="33073" anchor="ctr">
                    <a:lnL>
                      <a:noFill/>
                    </a:lnL>
                    <a:lnR>
                      <a:noFill/>
                    </a:lnR>
                    <a:lnT>
                      <a:noFill/>
                    </a:lnT>
                    <a:lnB>
                      <a:noFill/>
                    </a:lnB>
                    <a:noFill/>
                  </a:tcPr>
                </a:tc>
                <a:tc>
                  <a:txBody>
                    <a:bodyPr/>
                    <a:lstStyle/>
                    <a:p>
                      <a:pPr>
                        <a:buNone/>
                      </a:pPr>
                      <a:r>
                        <a:rPr lang="en-IN" sz="1400">
                          <a:latin typeface="Calibri" panose="020F0502020204030204" pitchFamily="34" charset="0"/>
                          <a:ea typeface="Calibri" panose="020F0502020204030204" pitchFamily="34" charset="0"/>
                          <a:cs typeface="Calibri" panose="020F0502020204030204" pitchFamily="34" charset="0"/>
                        </a:rPr>
                        <a:t>Pearson or Spearman</a:t>
                      </a:r>
                    </a:p>
                  </a:txBody>
                  <a:tcPr marL="66146" marR="66146" marT="33073" marB="33073" anchor="ctr">
                    <a:lnL>
                      <a:noFill/>
                    </a:lnL>
                    <a:lnR>
                      <a:noFill/>
                    </a:lnR>
                    <a:lnT>
                      <a:noFill/>
                    </a:lnT>
                    <a:lnB>
                      <a:noFill/>
                    </a:lnB>
                    <a:noFill/>
                  </a:tcPr>
                </a:tc>
                <a:tc>
                  <a:txBody>
                    <a:bodyPr/>
                    <a:lstStyle/>
                    <a:p>
                      <a:pPr>
                        <a:buNone/>
                      </a:pPr>
                      <a:r>
                        <a:rPr lang="en-US" sz="1400">
                          <a:latin typeface="Calibri" panose="020F0502020204030204" pitchFamily="34" charset="0"/>
                          <a:ea typeface="Calibri" panose="020F0502020204030204" pitchFamily="34" charset="0"/>
                          <a:cs typeface="Calibri" panose="020F0502020204030204" pitchFamily="34" charset="0"/>
                        </a:rPr>
                        <a:t>Both are interval; Pearson preferred if data is normally distributed</a:t>
                      </a:r>
                    </a:p>
                  </a:txBody>
                  <a:tcPr marL="66146" marR="66146" marT="33073" marB="33073" anchor="ctr">
                    <a:lnL>
                      <a:noFill/>
                    </a:lnL>
                    <a:lnR>
                      <a:noFill/>
                    </a:lnR>
                    <a:lnT>
                      <a:noFill/>
                    </a:lnT>
                    <a:lnB>
                      <a:noFill/>
                    </a:lnB>
                    <a:noFill/>
                  </a:tcPr>
                </a:tc>
                <a:extLst>
                  <a:ext uri="{0D108BD9-81ED-4DB2-BD59-A6C34878D82A}">
                    <a16:rowId xmlns:a16="http://schemas.microsoft.com/office/drawing/2014/main" val="10001"/>
                  </a:ext>
                </a:extLst>
              </a:tr>
              <a:tr h="467609">
                <a:tc>
                  <a:txBody>
                    <a:bodyPr/>
                    <a:lstStyle/>
                    <a:p>
                      <a:pPr>
                        <a:buNone/>
                      </a:pPr>
                      <a:r>
                        <a:rPr lang="en-IN" sz="1400">
                          <a:latin typeface="Calibri" panose="020F0502020204030204" pitchFamily="34" charset="0"/>
                          <a:ea typeface="Calibri" panose="020F0502020204030204" pitchFamily="34" charset="0"/>
                          <a:cs typeface="Calibri" panose="020F0502020204030204" pitchFamily="34" charset="0"/>
                        </a:rPr>
                        <a:t>Ratings</a:t>
                      </a:r>
                    </a:p>
                  </a:txBody>
                  <a:tcPr marL="66146" marR="66146" marT="33073" marB="33073" anchor="ctr">
                    <a:lnL>
                      <a:noFill/>
                    </a:lnL>
                    <a:lnR>
                      <a:noFill/>
                    </a:lnR>
                    <a:lnT>
                      <a:noFill/>
                    </a:lnT>
                    <a:lnB>
                      <a:noFill/>
                    </a:lnB>
                    <a:noFill/>
                  </a:tcPr>
                </a:tc>
                <a:tc>
                  <a:txBody>
                    <a:bodyPr/>
                    <a:lstStyle/>
                    <a:p>
                      <a:pPr>
                        <a:buNone/>
                      </a:pPr>
                      <a:r>
                        <a:rPr lang="en-IN" sz="1400">
                          <a:latin typeface="Calibri" panose="020F0502020204030204" pitchFamily="34" charset="0"/>
                          <a:ea typeface="Calibri" panose="020F0502020204030204" pitchFamily="34" charset="0"/>
                          <a:cs typeface="Calibri" panose="020F0502020204030204" pitchFamily="34" charset="0"/>
                        </a:rPr>
                        <a:t>Released_Year</a:t>
                      </a:r>
                    </a:p>
                  </a:txBody>
                  <a:tcPr marL="66146" marR="66146" marT="33073" marB="33073" anchor="ctr">
                    <a:lnL>
                      <a:noFill/>
                    </a:lnL>
                    <a:lnR>
                      <a:noFill/>
                    </a:lnR>
                    <a:lnT>
                      <a:noFill/>
                    </a:lnT>
                    <a:lnB>
                      <a:noFill/>
                    </a:lnB>
                    <a:noFill/>
                  </a:tcPr>
                </a:tc>
                <a:tc>
                  <a:txBody>
                    <a:bodyPr/>
                    <a:lstStyle/>
                    <a:p>
                      <a:pPr>
                        <a:buNone/>
                      </a:pPr>
                      <a:r>
                        <a:rPr lang="en-IN" sz="1400">
                          <a:latin typeface="Calibri" panose="020F0502020204030204" pitchFamily="34" charset="0"/>
                          <a:ea typeface="Calibri" panose="020F0502020204030204" pitchFamily="34" charset="0"/>
                          <a:cs typeface="Calibri" panose="020F0502020204030204" pitchFamily="34" charset="0"/>
                        </a:rPr>
                        <a:t>Pearson or Spearman</a:t>
                      </a:r>
                    </a:p>
                  </a:txBody>
                  <a:tcPr marL="66146" marR="66146" marT="33073" marB="33073" anchor="ctr">
                    <a:lnL>
                      <a:noFill/>
                    </a:lnL>
                    <a:lnR>
                      <a:noFill/>
                    </a:lnR>
                    <a:lnT>
                      <a:noFill/>
                    </a:lnT>
                    <a:lnB>
                      <a:noFill/>
                    </a:lnB>
                    <a:noFill/>
                  </a:tcPr>
                </a:tc>
                <a:tc>
                  <a:txBody>
                    <a:bodyPr/>
                    <a:lstStyle/>
                    <a:p>
                      <a:pPr>
                        <a:buNone/>
                      </a:pPr>
                      <a:r>
                        <a:rPr lang="en-US" sz="1400">
                          <a:latin typeface="Calibri" panose="020F0502020204030204" pitchFamily="34" charset="0"/>
                          <a:ea typeface="Calibri" panose="020F0502020204030204" pitchFamily="34" charset="0"/>
                          <a:cs typeface="Calibri" panose="020F0502020204030204" pitchFamily="34" charset="0"/>
                        </a:rPr>
                        <a:t>Interval; may show trends over time</a:t>
                      </a:r>
                    </a:p>
                  </a:txBody>
                  <a:tcPr marL="66146" marR="66146" marT="33073" marB="33073" anchor="ctr">
                    <a:lnL>
                      <a:noFill/>
                    </a:lnL>
                    <a:lnR>
                      <a:noFill/>
                    </a:lnR>
                    <a:lnT>
                      <a:noFill/>
                    </a:lnT>
                    <a:lnB>
                      <a:noFill/>
                    </a:lnB>
                    <a:noFill/>
                  </a:tcPr>
                </a:tc>
                <a:extLst>
                  <a:ext uri="{0D108BD9-81ED-4DB2-BD59-A6C34878D82A}">
                    <a16:rowId xmlns:a16="http://schemas.microsoft.com/office/drawing/2014/main" val="10002"/>
                  </a:ext>
                </a:extLst>
              </a:tr>
              <a:tr h="467609">
                <a:tc>
                  <a:txBody>
                    <a:bodyPr/>
                    <a:lstStyle/>
                    <a:p>
                      <a:pPr>
                        <a:buNone/>
                      </a:pPr>
                      <a:r>
                        <a:rPr lang="en-IN" sz="1400">
                          <a:latin typeface="Calibri" panose="020F0502020204030204" pitchFamily="34" charset="0"/>
                          <a:ea typeface="Calibri" panose="020F0502020204030204" pitchFamily="34" charset="0"/>
                          <a:cs typeface="Calibri" panose="020F0502020204030204" pitchFamily="34" charset="0"/>
                        </a:rPr>
                        <a:t>Userreviews</a:t>
                      </a:r>
                    </a:p>
                  </a:txBody>
                  <a:tcPr marL="66146" marR="66146" marT="33073" marB="33073" anchor="ctr">
                    <a:lnL>
                      <a:noFill/>
                    </a:lnL>
                    <a:lnR>
                      <a:noFill/>
                    </a:lnR>
                    <a:lnT>
                      <a:noFill/>
                    </a:lnT>
                    <a:lnB>
                      <a:noFill/>
                    </a:lnB>
                    <a:noFill/>
                  </a:tcPr>
                </a:tc>
                <a:tc>
                  <a:txBody>
                    <a:bodyPr/>
                    <a:lstStyle/>
                    <a:p>
                      <a:pPr>
                        <a:buNone/>
                      </a:pPr>
                      <a:r>
                        <a:rPr lang="en-IN" sz="1400" dirty="0">
                          <a:latin typeface="Calibri" panose="020F0502020204030204" pitchFamily="34" charset="0"/>
                          <a:ea typeface="Calibri" panose="020F0502020204030204" pitchFamily="34" charset="0"/>
                          <a:cs typeface="Calibri" panose="020F0502020204030204" pitchFamily="34" charset="0"/>
                        </a:rPr>
                        <a:t>Votes</a:t>
                      </a:r>
                    </a:p>
                  </a:txBody>
                  <a:tcPr marL="66146" marR="66146" marT="33073" marB="33073" anchor="ctr">
                    <a:lnL>
                      <a:noFill/>
                    </a:lnL>
                    <a:lnR>
                      <a:noFill/>
                    </a:lnR>
                    <a:lnT>
                      <a:noFill/>
                    </a:lnT>
                    <a:lnB>
                      <a:noFill/>
                    </a:lnB>
                    <a:noFill/>
                  </a:tcPr>
                </a:tc>
                <a:tc>
                  <a:txBody>
                    <a:bodyPr/>
                    <a:lstStyle/>
                    <a:p>
                      <a:pPr>
                        <a:buNone/>
                      </a:pPr>
                      <a:r>
                        <a:rPr lang="en-IN" sz="1400">
                          <a:latin typeface="Calibri" panose="020F0502020204030204" pitchFamily="34" charset="0"/>
                          <a:ea typeface="Calibri" panose="020F0502020204030204" pitchFamily="34" charset="0"/>
                          <a:cs typeface="Calibri" panose="020F0502020204030204" pitchFamily="34" charset="0"/>
                        </a:rPr>
                        <a:t>Pearson or Spearman</a:t>
                      </a:r>
                    </a:p>
                  </a:txBody>
                  <a:tcPr marL="66146" marR="66146" marT="33073" marB="33073" anchor="ctr">
                    <a:lnL>
                      <a:noFill/>
                    </a:lnL>
                    <a:lnR>
                      <a:noFill/>
                    </a:lnR>
                    <a:lnT>
                      <a:noFill/>
                    </a:lnT>
                    <a:lnB>
                      <a:noFill/>
                    </a:lnB>
                    <a:noFill/>
                  </a:tcPr>
                </a:tc>
                <a:tc>
                  <a:txBody>
                    <a:bodyPr/>
                    <a:lstStyle/>
                    <a:p>
                      <a:pPr>
                        <a:buNone/>
                      </a:pPr>
                      <a:r>
                        <a:rPr lang="en-US" sz="1400">
                          <a:latin typeface="Calibri" panose="020F0502020204030204" pitchFamily="34" charset="0"/>
                          <a:ea typeface="Calibri" panose="020F0502020204030204" pitchFamily="34" charset="0"/>
                          <a:cs typeface="Calibri" panose="020F0502020204030204" pitchFamily="34" charset="0"/>
                        </a:rPr>
                        <a:t>Count data; check for skewness</a:t>
                      </a:r>
                    </a:p>
                  </a:txBody>
                  <a:tcPr marL="66146" marR="66146" marT="33073" marB="33073" anchor="ctr">
                    <a:lnL>
                      <a:noFill/>
                    </a:lnL>
                    <a:lnR>
                      <a:noFill/>
                    </a:lnR>
                    <a:lnT>
                      <a:noFill/>
                    </a:lnT>
                    <a:lnB>
                      <a:noFill/>
                    </a:lnB>
                    <a:noFill/>
                  </a:tcPr>
                </a:tc>
                <a:extLst>
                  <a:ext uri="{0D108BD9-81ED-4DB2-BD59-A6C34878D82A}">
                    <a16:rowId xmlns:a16="http://schemas.microsoft.com/office/drawing/2014/main" val="10003"/>
                  </a:ext>
                </a:extLst>
              </a:tr>
              <a:tr h="467609">
                <a:tc>
                  <a:txBody>
                    <a:bodyPr/>
                    <a:lstStyle/>
                    <a:p>
                      <a:pPr>
                        <a:buNone/>
                      </a:pPr>
                      <a:r>
                        <a:rPr lang="en-IN" sz="1400">
                          <a:latin typeface="Calibri" panose="020F0502020204030204" pitchFamily="34" charset="0"/>
                          <a:ea typeface="Calibri" panose="020F0502020204030204" pitchFamily="34" charset="0"/>
                          <a:cs typeface="Calibri" panose="020F0502020204030204" pitchFamily="34" charset="0"/>
                        </a:rPr>
                        <a:t>Criticreviews</a:t>
                      </a:r>
                    </a:p>
                  </a:txBody>
                  <a:tcPr marL="66146" marR="66146" marT="33073" marB="33073" anchor="ctr">
                    <a:lnL>
                      <a:noFill/>
                    </a:lnL>
                    <a:lnR>
                      <a:noFill/>
                    </a:lnR>
                    <a:lnT>
                      <a:noFill/>
                    </a:lnT>
                    <a:lnB>
                      <a:noFill/>
                    </a:lnB>
                    <a:noFill/>
                  </a:tcPr>
                </a:tc>
                <a:tc>
                  <a:txBody>
                    <a:bodyPr/>
                    <a:lstStyle/>
                    <a:p>
                      <a:pPr>
                        <a:buNone/>
                      </a:pPr>
                      <a:r>
                        <a:rPr lang="en-IN" sz="1400">
                          <a:latin typeface="Calibri" panose="020F0502020204030204" pitchFamily="34" charset="0"/>
                          <a:ea typeface="Calibri" panose="020F0502020204030204" pitchFamily="34" charset="0"/>
                          <a:cs typeface="Calibri" panose="020F0502020204030204" pitchFamily="34" charset="0"/>
                        </a:rPr>
                        <a:t>Metascore</a:t>
                      </a:r>
                    </a:p>
                  </a:txBody>
                  <a:tcPr marL="66146" marR="66146" marT="33073" marB="33073" anchor="ctr">
                    <a:lnL>
                      <a:noFill/>
                    </a:lnL>
                    <a:lnR>
                      <a:noFill/>
                    </a:lnR>
                    <a:lnT>
                      <a:noFill/>
                    </a:lnT>
                    <a:lnB>
                      <a:noFill/>
                    </a:lnB>
                    <a:noFill/>
                  </a:tcPr>
                </a:tc>
                <a:tc>
                  <a:txBody>
                    <a:bodyPr/>
                    <a:lstStyle/>
                    <a:p>
                      <a:pPr>
                        <a:buNone/>
                      </a:pPr>
                      <a:r>
                        <a:rPr lang="en-IN" sz="1400">
                          <a:latin typeface="Calibri" panose="020F0502020204030204" pitchFamily="34" charset="0"/>
                          <a:ea typeface="Calibri" panose="020F0502020204030204" pitchFamily="34" charset="0"/>
                          <a:cs typeface="Calibri" panose="020F0502020204030204" pitchFamily="34" charset="0"/>
                        </a:rPr>
                        <a:t>Pearson or Spearman</a:t>
                      </a:r>
                    </a:p>
                  </a:txBody>
                  <a:tcPr marL="66146" marR="66146" marT="33073" marB="33073" anchor="ctr">
                    <a:lnL>
                      <a:noFill/>
                    </a:lnL>
                    <a:lnR>
                      <a:noFill/>
                    </a:lnR>
                    <a:lnT>
                      <a:noFill/>
                    </a:lnT>
                    <a:lnB>
                      <a:noFill/>
                    </a:lnB>
                    <a:noFill/>
                  </a:tcPr>
                </a:tc>
                <a:tc>
                  <a:txBody>
                    <a:bodyPr/>
                    <a:lstStyle/>
                    <a:p>
                      <a:pPr>
                        <a:buNone/>
                      </a:pPr>
                      <a:r>
                        <a:rPr lang="en-IN" sz="1400">
                          <a:latin typeface="Calibri" panose="020F0502020204030204" pitchFamily="34" charset="0"/>
                          <a:ea typeface="Calibri" panose="020F0502020204030204" pitchFamily="34" charset="0"/>
                          <a:cs typeface="Calibri" panose="020F0502020204030204" pitchFamily="34" charset="0"/>
                        </a:rPr>
                        <a:t>Could reflect critic engagement</a:t>
                      </a:r>
                    </a:p>
                  </a:txBody>
                  <a:tcPr marL="66146" marR="66146" marT="33073" marB="33073" anchor="ctr">
                    <a:lnL>
                      <a:noFill/>
                    </a:lnL>
                    <a:lnR>
                      <a:noFill/>
                    </a:lnR>
                    <a:lnT>
                      <a:noFill/>
                    </a:lnT>
                    <a:lnB>
                      <a:noFill/>
                    </a:lnB>
                    <a:noFill/>
                  </a:tcPr>
                </a:tc>
                <a:extLst>
                  <a:ext uri="{0D108BD9-81ED-4DB2-BD59-A6C34878D82A}">
                    <a16:rowId xmlns:a16="http://schemas.microsoft.com/office/drawing/2014/main" val="10004"/>
                  </a:ext>
                </a:extLst>
              </a:tr>
              <a:tr h="467609">
                <a:tc>
                  <a:txBody>
                    <a:bodyPr/>
                    <a:lstStyle/>
                    <a:p>
                      <a:pPr>
                        <a:buNone/>
                      </a:pPr>
                      <a:r>
                        <a:rPr lang="en-IN" sz="1400">
                          <a:latin typeface="Calibri" panose="020F0502020204030204" pitchFamily="34" charset="0"/>
                          <a:ea typeface="Calibri" panose="020F0502020204030204" pitchFamily="34" charset="0"/>
                          <a:cs typeface="Calibri" panose="020F0502020204030204" pitchFamily="34" charset="0"/>
                        </a:rPr>
                        <a:t>Ratings</a:t>
                      </a:r>
                    </a:p>
                  </a:txBody>
                  <a:tcPr marL="66146" marR="66146" marT="33073" marB="33073" anchor="ctr">
                    <a:lnL>
                      <a:noFill/>
                    </a:lnL>
                    <a:lnR>
                      <a:noFill/>
                    </a:lnR>
                    <a:lnT>
                      <a:noFill/>
                    </a:lnT>
                    <a:lnB>
                      <a:noFill/>
                    </a:lnB>
                    <a:noFill/>
                  </a:tcPr>
                </a:tc>
                <a:tc>
                  <a:txBody>
                    <a:bodyPr/>
                    <a:lstStyle/>
                    <a:p>
                      <a:pPr>
                        <a:buNone/>
                      </a:pPr>
                      <a:r>
                        <a:rPr lang="en-IN" sz="1400">
                          <a:latin typeface="Calibri" panose="020F0502020204030204" pitchFamily="34" charset="0"/>
                          <a:ea typeface="Calibri" panose="020F0502020204030204" pitchFamily="34" charset="0"/>
                          <a:cs typeface="Calibri" panose="020F0502020204030204" pitchFamily="34" charset="0"/>
                        </a:rPr>
                        <a:t>Votes</a:t>
                      </a:r>
                    </a:p>
                  </a:txBody>
                  <a:tcPr marL="66146" marR="66146" marT="33073" marB="33073" anchor="ctr">
                    <a:lnL>
                      <a:noFill/>
                    </a:lnL>
                    <a:lnR>
                      <a:noFill/>
                    </a:lnR>
                    <a:lnT>
                      <a:noFill/>
                    </a:lnT>
                    <a:lnB>
                      <a:noFill/>
                    </a:lnB>
                    <a:noFill/>
                  </a:tcPr>
                </a:tc>
                <a:tc>
                  <a:txBody>
                    <a:bodyPr/>
                    <a:lstStyle/>
                    <a:p>
                      <a:pPr>
                        <a:buNone/>
                      </a:pPr>
                      <a:r>
                        <a:rPr lang="en-IN" sz="1400">
                          <a:latin typeface="Calibri" panose="020F0502020204030204" pitchFamily="34" charset="0"/>
                          <a:ea typeface="Calibri" panose="020F0502020204030204" pitchFamily="34" charset="0"/>
                          <a:cs typeface="Calibri" panose="020F0502020204030204" pitchFamily="34" charset="0"/>
                        </a:rPr>
                        <a:t>Pearson or Spearman</a:t>
                      </a:r>
                    </a:p>
                  </a:txBody>
                  <a:tcPr marL="66146" marR="66146" marT="33073" marB="33073" anchor="ctr">
                    <a:lnL>
                      <a:noFill/>
                    </a:lnL>
                    <a:lnR>
                      <a:noFill/>
                    </a:lnR>
                    <a:lnT>
                      <a:noFill/>
                    </a:lnT>
                    <a:lnB>
                      <a:noFill/>
                    </a:lnB>
                    <a:noFill/>
                  </a:tcPr>
                </a:tc>
                <a:tc>
                  <a:txBody>
                    <a:bodyPr/>
                    <a:lstStyle/>
                    <a:p>
                      <a:pPr>
                        <a:buNone/>
                      </a:pPr>
                      <a:r>
                        <a:rPr lang="en-IN" sz="1400" dirty="0">
                          <a:latin typeface="Calibri" panose="020F0502020204030204" pitchFamily="34" charset="0"/>
                          <a:ea typeface="Calibri" panose="020F0502020204030204" pitchFamily="34" charset="0"/>
                          <a:cs typeface="Calibri" panose="020F0502020204030204" pitchFamily="34" charset="0"/>
                        </a:rPr>
                        <a:t>Popularity vs perceived quality</a:t>
                      </a:r>
                    </a:p>
                  </a:txBody>
                  <a:tcPr marL="66146" marR="66146" marT="33073" marB="33073"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Subtitle 1"/>
          <p:cNvSpPr>
            <a:spLocks noGrp="1"/>
          </p:cNvSpPr>
          <p:nvPr>
            <p:ph type="subTitle" idx="1"/>
          </p:nvPr>
        </p:nvSpPr>
        <p:spPr>
          <a:xfrm>
            <a:off x="521219" y="284375"/>
            <a:ext cx="10406581" cy="1391600"/>
          </a:xfrm>
        </p:spPr>
        <p:txBody>
          <a:bodyPr vert="horz" lIns="0" tIns="0" rIns="0" bIns="0" rtlCol="0" anchor="t">
            <a:noAutofit/>
          </a:bodyPr>
          <a:lstStyle/>
          <a:p>
            <a:pPr>
              <a:lnSpc>
                <a:spcPct val="100000"/>
              </a:lnSpc>
            </a:pPr>
            <a:r>
              <a:rPr lang="en-GB" sz="2400" b="0" dirty="0">
                <a:latin typeface="Calibri"/>
                <a:cs typeface="Calibri"/>
              </a:rPr>
              <a:t>Add your </a:t>
            </a:r>
            <a:r>
              <a:rPr lang="en-GB" sz="2400" dirty="0">
                <a:latin typeface="Calibri"/>
                <a:cs typeface="Calibri"/>
              </a:rPr>
              <a:t>Hypotheses</a:t>
            </a:r>
            <a:r>
              <a:rPr lang="en-GB" sz="2400" b="0" dirty="0">
                <a:latin typeface="Calibri"/>
                <a:cs typeface="Calibri"/>
              </a:rPr>
              <a:t> to the previous RQ Slide  (both the Null and Alternative Hypotheses).  Here are definitions and examples. </a:t>
            </a:r>
            <a:r>
              <a:rPr lang="en-GB" sz="2400" dirty="0">
                <a:latin typeface="Calibri"/>
                <a:cs typeface="Calibri"/>
              </a:rPr>
              <a:t>Your hypothesis wording comes directly from your RQ</a:t>
            </a:r>
            <a:r>
              <a:rPr lang="en-GB" sz="2400" b="0" dirty="0">
                <a:latin typeface="Calibri"/>
                <a:cs typeface="Calibri"/>
              </a:rPr>
              <a:t>. This is the formal way of reporting the results of your inferential test statistics,  in which we report the </a:t>
            </a:r>
            <a:r>
              <a:rPr lang="en-GB" sz="2400" b="0" i="1" dirty="0">
                <a:latin typeface="Calibri"/>
                <a:cs typeface="Calibri"/>
              </a:rPr>
              <a:t>effect</a:t>
            </a:r>
            <a:r>
              <a:rPr lang="en-GB" sz="2400" b="0" dirty="0">
                <a:latin typeface="Calibri"/>
                <a:cs typeface="Calibri"/>
              </a:rPr>
              <a:t> the independent variable has on the dependent variable – </a:t>
            </a:r>
          </a:p>
          <a:p>
            <a:pPr marL="457200" indent="-457200">
              <a:lnSpc>
                <a:spcPct val="100000"/>
              </a:lnSpc>
              <a:buAutoNum type="arabicPeriod"/>
            </a:pPr>
            <a:r>
              <a:rPr lang="en-GB" sz="2000" b="0" dirty="0">
                <a:latin typeface="Arial"/>
                <a:cs typeface="Arial"/>
              </a:rPr>
              <a:t>Null hypothesis (H</a:t>
            </a:r>
            <a:r>
              <a:rPr lang="en-GB" sz="2000" b="0" baseline="-25000" dirty="0">
                <a:latin typeface="Arial"/>
                <a:cs typeface="Arial"/>
              </a:rPr>
              <a:t>0</a:t>
            </a:r>
            <a:r>
              <a:rPr lang="en-GB" sz="2000" b="0" dirty="0">
                <a:latin typeface="Arial"/>
                <a:cs typeface="Arial"/>
              </a:rPr>
              <a:t>): There is </a:t>
            </a:r>
            <a:r>
              <a:rPr lang="en-GB" sz="2000" dirty="0">
                <a:latin typeface="Arial"/>
                <a:cs typeface="Arial"/>
              </a:rPr>
              <a:t>no </a:t>
            </a:r>
            <a:r>
              <a:rPr lang="en-GB" sz="2000" b="0" dirty="0">
                <a:latin typeface="Arial"/>
                <a:cs typeface="Arial"/>
              </a:rPr>
              <a:t>effect on the population – so you write one of the following:  </a:t>
            </a:r>
            <a:endParaRPr lang="en-GB" sz="2000" b="0" dirty="0">
              <a:solidFill>
                <a:schemeClr val="tx1"/>
              </a:solidFill>
              <a:latin typeface="Arial"/>
              <a:cs typeface="Arial"/>
            </a:endParaRPr>
          </a:p>
          <a:p>
            <a:pPr>
              <a:lnSpc>
                <a:spcPct val="100000"/>
              </a:lnSpc>
            </a:pPr>
            <a:r>
              <a:rPr lang="en-GB" sz="2000" b="0" dirty="0">
                <a:solidFill>
                  <a:srgbClr val="FF0000"/>
                </a:solidFill>
                <a:latin typeface="Arial"/>
                <a:cs typeface="Arial"/>
              </a:rPr>
              <a:t>Null hypothesis (H</a:t>
            </a:r>
            <a:r>
              <a:rPr lang="en-GB" sz="2000" b="0" baseline="-25000" dirty="0">
                <a:solidFill>
                  <a:srgbClr val="FF0000"/>
                </a:solidFill>
                <a:latin typeface="Arial"/>
                <a:cs typeface="Arial"/>
              </a:rPr>
              <a:t>0</a:t>
            </a:r>
            <a:r>
              <a:rPr lang="en-GB" sz="2000" b="0" dirty="0">
                <a:solidFill>
                  <a:srgbClr val="FF0000"/>
                </a:solidFill>
                <a:latin typeface="Arial"/>
                <a:cs typeface="Arial"/>
              </a:rPr>
              <a:t>): There is </a:t>
            </a:r>
            <a:r>
              <a:rPr lang="en-GB" sz="2000" dirty="0">
                <a:solidFill>
                  <a:srgbClr val="FF0000"/>
                </a:solidFill>
                <a:latin typeface="Arial"/>
                <a:cs typeface="Arial"/>
              </a:rPr>
              <a:t>no</a:t>
            </a:r>
            <a:r>
              <a:rPr lang="en-GB" sz="2000" b="0" dirty="0">
                <a:solidFill>
                  <a:srgbClr val="FF0000"/>
                </a:solidFill>
                <a:latin typeface="Arial"/>
                <a:cs typeface="Arial"/>
              </a:rPr>
              <a:t> correlation between [dependent variable] and [independent variable].</a:t>
            </a:r>
          </a:p>
          <a:p>
            <a:pPr>
              <a:lnSpc>
                <a:spcPct val="100000"/>
              </a:lnSpc>
            </a:pPr>
            <a:r>
              <a:rPr lang="en-GB" sz="2000" b="0" dirty="0">
                <a:latin typeface="Arial"/>
                <a:cs typeface="Arial"/>
              </a:rPr>
              <a:t>2. Alternative hypothesis (H</a:t>
            </a:r>
            <a:r>
              <a:rPr lang="en-GB" sz="2000" b="0" baseline="-25000" dirty="0">
                <a:latin typeface="Arial"/>
                <a:cs typeface="Arial"/>
              </a:rPr>
              <a:t>1</a:t>
            </a:r>
            <a:r>
              <a:rPr lang="en-GB" sz="2000" b="0" dirty="0">
                <a:latin typeface="Arial"/>
                <a:cs typeface="Arial"/>
              </a:rPr>
              <a:t>):  There appears to be an effect on the population – so you copy what you wrote for the Null hypothesis but remove the ‘no’ and replace with ‘</a:t>
            </a:r>
            <a:r>
              <a:rPr lang="en-GB" sz="2000" dirty="0">
                <a:latin typeface="Arial"/>
                <a:cs typeface="Arial"/>
              </a:rPr>
              <a:t>a’  </a:t>
            </a:r>
            <a:r>
              <a:rPr lang="en-GB" sz="2000" b="0" dirty="0">
                <a:latin typeface="Arial"/>
                <a:cs typeface="Arial"/>
              </a:rPr>
              <a:t>For example:</a:t>
            </a:r>
          </a:p>
          <a:p>
            <a:pPr>
              <a:lnSpc>
                <a:spcPct val="100000"/>
              </a:lnSpc>
            </a:pPr>
            <a:r>
              <a:rPr lang="en-GB" sz="2000" b="0" dirty="0">
                <a:solidFill>
                  <a:srgbClr val="FF0000"/>
                </a:solidFill>
                <a:latin typeface="Arial"/>
                <a:cs typeface="Arial"/>
              </a:rPr>
              <a:t>Alt hypothesis (H</a:t>
            </a:r>
            <a:r>
              <a:rPr lang="en-GB" sz="2000" b="0" baseline="-25000" dirty="0">
                <a:solidFill>
                  <a:srgbClr val="FF0000"/>
                </a:solidFill>
                <a:latin typeface="Arial"/>
                <a:cs typeface="Arial"/>
              </a:rPr>
              <a:t>1</a:t>
            </a:r>
            <a:r>
              <a:rPr lang="en-GB" sz="2000" b="0" dirty="0">
                <a:solidFill>
                  <a:srgbClr val="FF0000"/>
                </a:solidFill>
                <a:latin typeface="Arial"/>
                <a:cs typeface="Arial"/>
              </a:rPr>
              <a:t>): There is </a:t>
            </a:r>
            <a:r>
              <a:rPr lang="en-GB" sz="2000" dirty="0">
                <a:solidFill>
                  <a:srgbClr val="FF0000"/>
                </a:solidFill>
                <a:latin typeface="Arial"/>
                <a:cs typeface="Arial"/>
              </a:rPr>
              <a:t>a</a:t>
            </a:r>
            <a:r>
              <a:rPr lang="en-GB" sz="2000" b="0" dirty="0">
                <a:solidFill>
                  <a:srgbClr val="FF0000"/>
                </a:solidFill>
                <a:latin typeface="Arial"/>
                <a:cs typeface="Arial"/>
              </a:rPr>
              <a:t> correlation between [dependent variable] and [independent variable].</a:t>
            </a:r>
          </a:p>
        </p:txBody>
      </p:sp>
      <p:sp>
        <p:nvSpPr>
          <p:cNvPr id="1048618" name="Slide Number Placeholder 3"/>
          <p:cNvSpPr>
            <a:spLocks noGrp="1"/>
          </p:cNvSpPr>
          <p:nvPr>
            <p:ph type="sldNum" sz="quarter" idx="12"/>
          </p:nvPr>
        </p:nvSpPr>
        <p:spPr>
          <a:xfrm>
            <a:off x="11269543" y="284375"/>
            <a:ext cx="558281" cy="221244"/>
          </a:xfrm>
        </p:spPr>
        <p:txBody>
          <a:bodyPr/>
          <a:lstStyle/>
          <a:p>
            <a:r>
              <a:rPr lang="en-US" dirty="0"/>
              <a:t>4</a:t>
            </a:r>
            <a:endParaRPr lang="en-GB" dirty="0"/>
          </a:p>
        </p:txBody>
      </p:sp>
      <p:sp>
        <p:nvSpPr>
          <p:cNvPr id="1048619" name="TextBox 5"/>
          <p:cNvSpPr txBox="1"/>
          <p:nvPr/>
        </p:nvSpPr>
        <p:spPr>
          <a:xfrm>
            <a:off x="761345" y="3903406"/>
            <a:ext cx="10406581" cy="1158240"/>
          </a:xfrm>
          <a:prstGeom prst="rect">
            <a:avLst/>
          </a:prstGeom>
          <a:noFill/>
        </p:spPr>
        <p:txBody>
          <a:bodyPr wrap="square" lIns="91440" tIns="45720" rIns="91440" bIns="45720" anchor="t">
            <a:spAutoFit/>
          </a:bodyPr>
          <a:lstStyle/>
          <a:p>
            <a:r>
              <a:rPr lang="en-GB" dirty="0"/>
              <a:t>L</a:t>
            </a:r>
            <a:r>
              <a:rPr lang="en-GB" sz="1800" b="0" dirty="0"/>
              <a:t>eave the hypotheses as </a:t>
            </a:r>
            <a:r>
              <a:rPr lang="en-GB" dirty="0"/>
              <a:t>two </a:t>
            </a:r>
            <a:r>
              <a:rPr lang="en-GB" sz="1800" b="0" dirty="0"/>
              <a:t>statements for now – after your </a:t>
            </a:r>
            <a:r>
              <a:rPr lang="en-GB" dirty="0"/>
              <a:t>statistical </a:t>
            </a:r>
            <a:r>
              <a:rPr lang="en-GB" sz="1800" b="0" dirty="0"/>
              <a:t>analysis </a:t>
            </a:r>
            <a:r>
              <a:rPr lang="en-GB" dirty="0"/>
              <a:t>test, </a:t>
            </a:r>
            <a:r>
              <a:rPr lang="en-GB" sz="1800" b="0" dirty="0"/>
              <a:t>you </a:t>
            </a:r>
            <a:r>
              <a:rPr lang="en-GB" dirty="0"/>
              <a:t>will </a:t>
            </a:r>
            <a:r>
              <a:rPr lang="en-GB" sz="1800" b="0" dirty="0"/>
              <a:t>choose one or the other.</a:t>
            </a:r>
            <a:r>
              <a:rPr lang="en-GB" dirty="0"/>
              <a:t> (</a:t>
            </a:r>
            <a:r>
              <a:rPr lang="en-GB" i="1" dirty="0"/>
              <a:t>You will report: "We fail to reject the null hypothesis" with no significant result, or if you do have significance [p-value = &lt; 0.05] you can state "We reject the null hypothesis".   More guidance on hypothesis testing is given in the lectures</a:t>
            </a:r>
            <a:r>
              <a:rPr lang="en-GB" dirty="0"/>
              <a:t>.)</a:t>
            </a:r>
            <a:endParaRPr lang="en-GB" dirty="0">
              <a:cs typeface="Arial"/>
            </a:endParaRPr>
          </a:p>
        </p:txBody>
      </p:sp>
    </p:spTree>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D2C8ECFA-28BD-4D1D-9572-4943C9BF3A9C}">
  <ds:schemaRefs>
    <ds:schemaRef ds:uri="http://schemas.microsoft.com/office/2006/metadata/properties"/>
    <ds:schemaRef ds:uri="http://schemas.microsoft.com/office/infopath/2007/PartnerControls"/>
    <ds:schemaRef ds:uri="4ad138b4-2b68-4b70-945d-07f8f18b1c9a"/>
  </ds:schemaRefs>
</ds:datastoreItem>
</file>

<file path=docProps/app.xml><?xml version="1.0" encoding="utf-8"?>
<Properties xmlns="http://schemas.openxmlformats.org/officeDocument/2006/extended-properties" xmlns:vt="http://schemas.openxmlformats.org/officeDocument/2006/docPropsVTypes">
  <TotalTime>0</TotalTime>
  <Words>1000</Words>
  <Application>Microsoft Office PowerPoint</Application>
  <PresentationFormat>Widescreen</PresentationFormat>
  <Paragraphs>90</Paragraphs>
  <Slides>6</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Herts Theme</vt:lpstr>
      <vt:lpstr>PowerPoint Presentation</vt:lpstr>
      <vt:lpstr>Research Question –  Tutorial Presentation for Feedback Date: 19/11/2025 </vt:lpstr>
      <vt:lpstr> </vt:lpstr>
      <vt:lpstr>This dataset is interesting to us because (one sentence): This dataset contains detailed information about popular movies, including their titles, ratings, release years, IMDb links, votes, meta scores, and reviews, making it valuable for analyzing film trends and audience interests. From the column headings in your dataset choose ONE independent * and ONE dependent variable .  Our  Independent variable is: (number of votes)                    This  Independent variable datatype is (select one): Interval/measuremement  variable was Released_Year , it was numeric , but not ratio scale (year 0 isn’t meaningful) Our Dependent variable is: (ratings)                  This Dependent variable datatype is : Interval numeric scale with equal intervals ,but no  true zero.                </vt:lpstr>
      <vt:lpstr>Template 1: Interval/Ordinal vs Interval/Ordinal: “Is there a correlation between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Aluri Geetha</cp:lastModifiedBy>
  <cp:revision>1</cp:revision>
  <dcterms:created xsi:type="dcterms:W3CDTF">2019-10-01T06:37:56Z</dcterms:created>
  <dcterms:modified xsi:type="dcterms:W3CDTF">2025-11-22T20:14:59Z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y fmtid="{D5CDD505-2E9C-101B-9397-08002B2CF9AE}" pid="3" name="ICV">
    <vt:lpwstr>afa9bace96d6478eaa7fc218300c8c39</vt:lpwstr>
  </property>
</Properties>
</file>